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66" r:id="rId4"/>
    <p:sldId id="278" r:id="rId5"/>
    <p:sldId id="287" r:id="rId6"/>
    <p:sldId id="288" r:id="rId7"/>
    <p:sldId id="284" r:id="rId8"/>
    <p:sldId id="286" r:id="rId9"/>
    <p:sldId id="280" r:id="rId10"/>
    <p:sldId id="283" r:id="rId11"/>
    <p:sldId id="281" r:id="rId12"/>
    <p:sldId id="282" r:id="rId13"/>
    <p:sldId id="279"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2" autoAdjust="0"/>
    <p:restoredTop sz="94559" autoAdjust="0"/>
  </p:normalViewPr>
  <p:slideViewPr>
    <p:cSldViewPr snapToGrid="0" showGuides="1">
      <p:cViewPr varScale="1">
        <p:scale>
          <a:sx n="59" d="100"/>
          <a:sy n="59" d="100"/>
        </p:scale>
        <p:origin x="1000" y="52"/>
      </p:cViewPr>
      <p:guideLst>
        <p:guide orient="horz" pos="2160"/>
        <p:guide pos="3840"/>
      </p:guideLst>
    </p:cSldViewPr>
  </p:slideViewPr>
  <p:notesTextViewPr>
    <p:cViewPr>
      <p:scale>
        <a:sx n="1" d="1"/>
        <a:sy n="1" d="1"/>
      </p:scale>
      <p:origin x="0" y="0"/>
    </p:cViewPr>
  </p:notesTextViewPr>
  <p:notesViewPr>
    <p:cSldViewPr snapToGrid="0" showGuides="1">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4737E3-B7EF-C36D-3F40-4539A7E3D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E193C-EA0C-9D29-0505-F3E10B918A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120A3A-57DF-4E27-A938-C9CB18371920}" type="datetimeFigureOut">
              <a:rPr lang="en-US" smtClean="0"/>
              <a:t>9/24/2025</a:t>
            </a:fld>
            <a:endParaRPr lang="en-US"/>
          </a:p>
        </p:txBody>
      </p:sp>
      <p:sp>
        <p:nvSpPr>
          <p:cNvPr id="4" name="Footer Placeholder 3">
            <a:extLst>
              <a:ext uri="{FF2B5EF4-FFF2-40B4-BE49-F238E27FC236}">
                <a16:creationId xmlns:a16="http://schemas.microsoft.com/office/drawing/2014/main" id="{4386EEDC-13CE-28A8-E844-DC63E59B7E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5EE97-51CE-81BD-B5CD-D9814F382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0D7A73-8F03-409A-BE31-6E23BC7710C5}" type="slidenum">
              <a:rPr lang="en-US" smtClean="0"/>
              <a:t>‹#›</a:t>
            </a:fld>
            <a:endParaRPr lang="en-US"/>
          </a:p>
        </p:txBody>
      </p:sp>
    </p:spTree>
    <p:extLst>
      <p:ext uri="{BB962C8B-B14F-4D97-AF65-F5344CB8AC3E}">
        <p14:creationId xmlns:p14="http://schemas.microsoft.com/office/powerpoint/2010/main" val="11805942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5AD8A-73DF-4EB2-BCCF-08F085C123AA}" type="datetimeFigureOut">
              <a:rPr lang="en-US" smtClean="0"/>
              <a:t>9/24/2025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2390-4565-48BF-B2BF-3ADAF840DD91}" type="slidenum">
              <a:rPr lang="en-US" smtClean="0"/>
              <a:t>‹#›</a:t>
            </a:fld>
            <a:endParaRPr lang="en-US"/>
          </a:p>
        </p:txBody>
      </p:sp>
    </p:spTree>
    <p:extLst>
      <p:ext uri="{BB962C8B-B14F-4D97-AF65-F5344CB8AC3E}">
        <p14:creationId xmlns:p14="http://schemas.microsoft.com/office/powerpoint/2010/main" val="54401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42390-4565-48BF-B2BF-3ADAF840DD91}" type="slidenum">
              <a:rPr lang="en-US" smtClean="0"/>
              <a:t>1</a:t>
            </a:fld>
            <a:endParaRPr lang="en-US"/>
          </a:p>
        </p:txBody>
      </p:sp>
    </p:spTree>
    <p:extLst>
      <p:ext uri="{BB962C8B-B14F-4D97-AF65-F5344CB8AC3E}">
        <p14:creationId xmlns:p14="http://schemas.microsoft.com/office/powerpoint/2010/main" val="27685471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2.svg"/><Relationship Id="rId11" Type="http://schemas.openxmlformats.org/officeDocument/2006/relationships/image" Target="../media/image2.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2D007B-2D23-25BC-3840-8B44EAE5DA72}"/>
              </a:ext>
            </a:extLst>
          </p:cNvPr>
          <p:cNvSpPr>
            <a:spLocks noGrp="1"/>
          </p:cNvSpPr>
          <p:nvPr>
            <p:ph type="ctrTitle"/>
          </p:nvPr>
        </p:nvSpPr>
        <p:spPr>
          <a:xfrm>
            <a:off x="944880" y="2836506"/>
            <a:ext cx="9598712" cy="1942536"/>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AD05245-A962-B22A-4DDB-C3B335E6454A}"/>
              </a:ext>
            </a:extLst>
          </p:cNvPr>
          <p:cNvSpPr>
            <a:spLocks noGrp="1"/>
          </p:cNvSpPr>
          <p:nvPr>
            <p:ph type="subTitle" idx="1"/>
          </p:nvPr>
        </p:nvSpPr>
        <p:spPr>
          <a:xfrm>
            <a:off x="944880" y="5108704"/>
            <a:ext cx="9144000" cy="605502"/>
          </a:xfrm>
        </p:spPr>
        <p:txBody>
          <a:bodyPr>
            <a:normAutofit/>
          </a:bodyPr>
          <a:lstStyle>
            <a:lvl1pPr marL="0" indent="0" algn="l">
              <a:buNone/>
              <a:defRPr sz="3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4880" y="1041399"/>
            <a:ext cx="3151259" cy="686813"/>
          </a:xfrm>
          <a:prstGeom prst="rect">
            <a:avLst/>
          </a:prstGeom>
        </p:spPr>
      </p:pic>
      <p:pic>
        <p:nvPicPr>
          <p:cNvPr id="6" name="Picture 5">
            <a:extLst>
              <a:ext uri="{FF2B5EF4-FFF2-40B4-BE49-F238E27FC236}">
                <a16:creationId xmlns:a16="http://schemas.microsoft.com/office/drawing/2014/main" id="{AC26ABD9-40D7-AA22-F0C1-650D3C21A1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880" y="6334744"/>
            <a:ext cx="1725318" cy="365792"/>
          </a:xfrm>
          <a:prstGeom prst="rect">
            <a:avLst/>
          </a:prstGeom>
        </p:spPr>
      </p:pic>
    </p:spTree>
    <p:extLst>
      <p:ext uri="{BB962C8B-B14F-4D97-AF65-F5344CB8AC3E}">
        <p14:creationId xmlns:p14="http://schemas.microsoft.com/office/powerpoint/2010/main" val="1716759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8D5A62-614B-2D12-4D2F-EBF4440B03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303836C-3920-B8E1-6601-C5C5446BEA1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7DDB8D-FC27-13BF-343B-91B6E648E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837FC482-F850-8020-F4D8-5B9804E9BE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4641A13F-9C9A-7798-CC1C-CE523E7B96E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178AA40A-965E-4A63-9800-522E13EEDAAE}"/>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pic>
        <p:nvPicPr>
          <p:cNvPr id="7" name="Picture 6">
            <a:extLst>
              <a:ext uri="{FF2B5EF4-FFF2-40B4-BE49-F238E27FC236}">
                <a16:creationId xmlns:a16="http://schemas.microsoft.com/office/drawing/2014/main" id="{4180655E-9533-1F3E-EE1F-400B7CC42A23}"/>
              </a:ext>
            </a:extLst>
          </p:cNvPr>
          <p:cNvPicPr>
            <a:picLocks noChangeAspect="1"/>
          </p:cNvPicPr>
          <p:nvPr userDrawn="1"/>
        </p:nvPicPr>
        <p:blipFill>
          <a:blip r:embed="rId6">
            <a:alphaModFix amt="20000"/>
            <a:extLst>
              <a:ext uri="{28A0092B-C50C-407E-A947-70E740481C1C}">
                <a14:useLocalDpi xmlns:a14="http://schemas.microsoft.com/office/drawing/2010/main" val="0"/>
              </a:ext>
            </a:extLst>
          </a:blip>
          <a:srcRect t="911" r="25323" b="911"/>
          <a:stretch/>
        </p:blipFill>
        <p:spPr>
          <a:xfrm>
            <a:off x="0" y="0"/>
            <a:ext cx="12164007" cy="6858000"/>
          </a:xfrm>
          <a:prstGeom prst="rect">
            <a:avLst/>
          </a:prstGeom>
        </p:spPr>
      </p:pic>
      <p:sp>
        <p:nvSpPr>
          <p:cNvPr id="9" name="Rectangle 8">
            <a:extLst>
              <a:ext uri="{FF2B5EF4-FFF2-40B4-BE49-F238E27FC236}">
                <a16:creationId xmlns:a16="http://schemas.microsoft.com/office/drawing/2014/main" id="{B0563A23-3EFF-38EB-A383-397C48DB7BBD}"/>
              </a:ext>
            </a:extLst>
          </p:cNvPr>
          <p:cNvSpPr/>
          <p:nvPr userDrawn="1"/>
        </p:nvSpPr>
        <p:spPr>
          <a:xfrm>
            <a:off x="0" y="0"/>
            <a:ext cx="346364" cy="421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A32BE1-F42E-110C-83BF-0ACBAA7288E6}"/>
              </a:ext>
            </a:extLst>
          </p:cNvPr>
          <p:cNvSpPr/>
          <p:nvPr userDrawn="1"/>
        </p:nvSpPr>
        <p:spPr>
          <a:xfrm>
            <a:off x="0" y="4219720"/>
            <a:ext cx="346364" cy="26382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6C126F-E72F-28EC-ED77-1AAD54999D83}"/>
              </a:ext>
            </a:extLst>
          </p:cNvPr>
          <p:cNvCxnSpPr/>
          <p:nvPr userDrawn="1"/>
        </p:nvCxnSpPr>
        <p:spPr>
          <a:xfrm>
            <a:off x="914400" y="6280030"/>
            <a:ext cx="1863306"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35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CB1EB-93F5-153E-4764-E6319385D9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094E9C18-36D4-1EE7-007E-6520B516FDCB}"/>
              </a:ext>
            </a:extLst>
          </p:cNvPr>
          <p:cNvSpPr>
            <a:spLocks noGrp="1"/>
          </p:cNvSpPr>
          <p:nvPr>
            <p:ph type="title"/>
          </p:nvPr>
        </p:nvSpPr>
        <p:spPr>
          <a:xfrm>
            <a:off x="831850" y="1709738"/>
            <a:ext cx="10515600" cy="2852737"/>
          </a:xfrm>
        </p:spPr>
        <p:txBody>
          <a:bodyPr anchor="b"/>
          <a:lstStyle>
            <a:lvl1pPr>
              <a:defRPr sz="60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2F4AB9D-F129-1D0A-3F18-30A01E3CCC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9D8542C-570A-B982-EE49-D7BE0A03C9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79EF8714-2E62-9E33-0635-B316E158ECA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56914BD-BC5D-E404-E474-87D0704C84E1}"/>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159586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7A5C9C-15EB-E01C-A21A-71D8E8B7B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27D6001B-3DD9-17F0-8DD5-9C726E119CB1}"/>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0DF940-4841-13C0-050D-C893010CE0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A22BF0-4C09-EE31-F1E7-CE5F45A8AA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4F9AE5F-CE26-D80C-F042-86377F8A6D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7" name="Graphic 6">
            <a:extLst>
              <a:ext uri="{FF2B5EF4-FFF2-40B4-BE49-F238E27FC236}">
                <a16:creationId xmlns:a16="http://schemas.microsoft.com/office/drawing/2014/main" id="{622AC294-F3E3-1F24-5352-81AB4060EBF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68E6FF1-74DD-DB97-8000-750655DC310A}"/>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1903934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D3521FE-8074-3AEE-08BB-863228D4A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5B4051E9-43BD-C793-F812-C8B2D5C7511A}"/>
              </a:ext>
            </a:extLst>
          </p:cNvPr>
          <p:cNvSpPr>
            <a:spLocks noGrp="1"/>
          </p:cNvSpPr>
          <p:nvPr>
            <p:ph type="title"/>
          </p:nvPr>
        </p:nvSpPr>
        <p:spPr>
          <a:xfrm>
            <a:off x="839788" y="365125"/>
            <a:ext cx="10515600" cy="1325563"/>
          </a:xfrm>
        </p:spPr>
        <p:txBody>
          <a:bodyPr/>
          <a:lstStyle>
            <a:lvl1pPr>
              <a:defRPr>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70F60C-4123-6B76-0C69-9257E0884C80}"/>
              </a:ext>
            </a:extLst>
          </p:cNvPr>
          <p:cNvSpPr>
            <a:spLocks noGrp="1"/>
          </p:cNvSpPr>
          <p:nvPr>
            <p:ph type="body" idx="1"/>
          </p:nvPr>
        </p:nvSpPr>
        <p:spPr>
          <a:xfrm>
            <a:off x="839788" y="1681163"/>
            <a:ext cx="5157787"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28564-DC70-E696-0B34-9B756C5B4D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1411CD-ADCF-8C75-C21B-9C8189CDDC5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3D30F-8257-0773-224C-A80FD7DCC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784CB09F-AA67-425D-8664-92FF321FB4E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8" name="Graphic 7">
            <a:extLst>
              <a:ext uri="{FF2B5EF4-FFF2-40B4-BE49-F238E27FC236}">
                <a16:creationId xmlns:a16="http://schemas.microsoft.com/office/drawing/2014/main" id="{D9773CB4-AA79-2B87-C13D-416A1743F26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9" name="Slide Number Placeholder 5">
            <a:extLst>
              <a:ext uri="{FF2B5EF4-FFF2-40B4-BE49-F238E27FC236}">
                <a16:creationId xmlns:a16="http://schemas.microsoft.com/office/drawing/2014/main" id="{951C8CC7-5103-852D-2638-5633A716F9E0}"/>
              </a:ext>
            </a:extLst>
          </p:cNvPr>
          <p:cNvSpPr>
            <a:spLocks noGrp="1"/>
          </p:cNvSpPr>
          <p:nvPr>
            <p:ph type="sldNum" sz="quarter" idx="10"/>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57241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190A96-BFCE-EFBD-CCDA-D7646C83B4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D80C1EC-5C4F-4BB4-1D23-1BB6D97E2B04}"/>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2ACC1866-2580-DF83-1482-67DBCC2EA1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4" name="Graphic 3">
            <a:extLst>
              <a:ext uri="{FF2B5EF4-FFF2-40B4-BE49-F238E27FC236}">
                <a16:creationId xmlns:a16="http://schemas.microsoft.com/office/drawing/2014/main" id="{06928A15-0FAE-3D7A-BE88-D42ED256BE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03D672C-222C-01AE-E0B6-93D6FE1ABD79}"/>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56009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B72897-6F99-23F4-62FA-97B44DE86C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pic>
        <p:nvPicPr>
          <p:cNvPr id="2" name="Picture 1">
            <a:extLst>
              <a:ext uri="{FF2B5EF4-FFF2-40B4-BE49-F238E27FC236}">
                <a16:creationId xmlns:a16="http://schemas.microsoft.com/office/drawing/2014/main" id="{1B4B1E94-09C1-BD0F-9C7D-EA10237B86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3" name="Graphic 2">
            <a:extLst>
              <a:ext uri="{FF2B5EF4-FFF2-40B4-BE49-F238E27FC236}">
                <a16:creationId xmlns:a16="http://schemas.microsoft.com/office/drawing/2014/main" id="{12804975-758F-47E4-93AA-69CA818075B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4" name="Slide Number Placeholder 5">
            <a:extLst>
              <a:ext uri="{FF2B5EF4-FFF2-40B4-BE49-F238E27FC236}">
                <a16:creationId xmlns:a16="http://schemas.microsoft.com/office/drawing/2014/main" id="{E3EE3F8D-94C6-6090-7F45-0140F68D96F7}"/>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8090301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A1E715-A3C2-1062-72BA-AA6101EFDB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3C33B173-896D-3270-D196-9EA3CDED3908}"/>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E64532D-27C9-84A8-A21E-F55F54262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009652A-3B8E-D6FE-0C51-AD79BCB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FA6FED96-33F4-AE85-1943-38B458CA6C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76CCEDC5-EC77-FE15-57BB-7AAC4B53333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D09DCED4-9B61-CDC1-9F25-4418EED76E26}"/>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2067339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F93E89-EC43-508C-91D2-FE01949F0ED8}"/>
              </a:ext>
            </a:extLst>
          </p:cNvPr>
          <p:cNvSpPr/>
          <p:nvPr userDrawn="1"/>
        </p:nvSpPr>
        <p:spPr>
          <a:xfrm>
            <a:off x="5076825" y="885825"/>
            <a:ext cx="6275387" cy="49831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EC8168B-13D2-605D-EF13-8460F43410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0864C21-F58A-694E-BDDF-DDA23E0F92EA}"/>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B5008F3-14EF-C275-5009-54A6C0948E96}"/>
              </a:ext>
            </a:extLst>
          </p:cNvPr>
          <p:cNvSpPr>
            <a:spLocks noGrp="1"/>
          </p:cNvSpPr>
          <p:nvPr>
            <p:ph type="pic" idx="1"/>
          </p:nvPr>
        </p:nvSpPr>
        <p:spPr>
          <a:xfrm>
            <a:off x="5183188" y="987426"/>
            <a:ext cx="6065837" cy="4737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9828B4C-F206-DE18-A860-B2259AF8DF8F}"/>
              </a:ext>
            </a:extLst>
          </p:cNvPr>
          <p:cNvSpPr>
            <a:spLocks noGrp="1"/>
          </p:cNvSpPr>
          <p:nvPr>
            <p:ph type="body" sz="half" idx="2"/>
          </p:nvPr>
        </p:nvSpPr>
        <p:spPr>
          <a:xfrm>
            <a:off x="839788" y="1578718"/>
            <a:ext cx="3932237" cy="429026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1050AA15-91AB-ED53-47E2-7B2643344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6C2B2FDC-3E39-80E3-47A9-F14E0B22DB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FA1E7417-7698-6DAD-F799-E94ADF9A91E0}"/>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956120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8AD05-1982-0DF0-DB84-69992E3B47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D0D3381-9A33-CDE6-A465-39D508AD737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9A21791-0209-93DE-4383-04DAF664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A507BB1-3659-8D23-FA89-EA4F4D60D6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DA12D315-2DC9-AE52-4820-DBFE1FD82AA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E0BA133-188F-1018-3011-9894D2759E33}"/>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270365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6172AF-7DA8-B4AB-77FD-93C3CDDBF7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Vertical Title 1">
            <a:extLst>
              <a:ext uri="{FF2B5EF4-FFF2-40B4-BE49-F238E27FC236}">
                <a16:creationId xmlns:a16="http://schemas.microsoft.com/office/drawing/2014/main" id="{80514317-5D4A-3C1D-4027-E4A77FCE8B28}"/>
              </a:ext>
            </a:extLst>
          </p:cNvPr>
          <p:cNvSpPr>
            <a:spLocks noGrp="1"/>
          </p:cNvSpPr>
          <p:nvPr>
            <p:ph type="title" orient="vert"/>
          </p:nvPr>
        </p:nvSpPr>
        <p:spPr>
          <a:xfrm>
            <a:off x="8724900" y="365125"/>
            <a:ext cx="2628900" cy="5811838"/>
          </a:xfrm>
        </p:spPr>
        <p:txBody>
          <a:bodyPr vert="eaVert"/>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4BE6995-F9A4-0689-FA08-AC65CBECF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04AF2B0-44DA-FC23-665D-75C23412D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1EBA1BCB-5D76-4F42-E4D9-407309BC6F3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A9CA00D-4A52-8A7A-BE74-13E98B5DA635}"/>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411876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hidden="1">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796"/>
            <a:ext cx="12192000" cy="6857998"/>
          </a:xfrm>
          <a:prstGeom prst="rect">
            <a:avLst/>
          </a:prstGeom>
        </p:spPr>
      </p:pic>
      <p:pic>
        <p:nvPicPr>
          <p:cNvPr id="19" name="Graphic 18">
            <a:extLst>
              <a:ext uri="{FF2B5EF4-FFF2-40B4-BE49-F238E27FC236}">
                <a16:creationId xmlns:a16="http://schemas.microsoft.com/office/drawing/2014/main" id="{1C00A59F-5699-FFEC-05E4-084B9D01F5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2362" y="3032254"/>
            <a:ext cx="342035" cy="376238"/>
          </a:xfrm>
          <a:prstGeom prst="rect">
            <a:avLst/>
          </a:prstGeom>
        </p:spPr>
      </p:pic>
      <p:pic>
        <p:nvPicPr>
          <p:cNvPr id="21" name="Graphic 20">
            <a:extLst>
              <a:ext uri="{FF2B5EF4-FFF2-40B4-BE49-F238E27FC236}">
                <a16:creationId xmlns:a16="http://schemas.microsoft.com/office/drawing/2014/main" id="{572AEE09-A5AD-AA06-48E6-898E033BA94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779" y="3926565"/>
            <a:ext cx="307200" cy="384000"/>
          </a:xfrm>
          <a:prstGeom prst="rect">
            <a:avLst/>
          </a:prstGeom>
        </p:spPr>
      </p:pic>
      <p:pic>
        <p:nvPicPr>
          <p:cNvPr id="23" name="Graphic 22">
            <a:extLst>
              <a:ext uri="{FF2B5EF4-FFF2-40B4-BE49-F238E27FC236}">
                <a16:creationId xmlns:a16="http://schemas.microsoft.com/office/drawing/2014/main" id="{A01C56E0-4FF4-A49E-65BE-5A1BF232E4D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60775" y="4758611"/>
            <a:ext cx="405209" cy="405209"/>
          </a:xfrm>
          <a:prstGeom prst="rect">
            <a:avLst/>
          </a:prstGeom>
        </p:spPr>
      </p:pic>
      <p:pic>
        <p:nvPicPr>
          <p:cNvPr id="27" name="Graphic 26">
            <a:extLst>
              <a:ext uri="{FF2B5EF4-FFF2-40B4-BE49-F238E27FC236}">
                <a16:creationId xmlns:a16="http://schemas.microsoft.com/office/drawing/2014/main" id="{CDEF55D3-82EA-2BAF-B8BF-6C8795BCED9F}"/>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109779" y="5676372"/>
            <a:ext cx="3172854" cy="376042"/>
          </a:xfrm>
          <a:prstGeom prst="rect">
            <a:avLst/>
          </a:prstGeom>
        </p:spPr>
      </p:pic>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44880" y="1041399"/>
            <a:ext cx="4760571" cy="1037560"/>
          </a:xfrm>
          <a:prstGeom prst="rect">
            <a:avLst/>
          </a:prstGeom>
        </p:spPr>
      </p:pic>
      <p:sp>
        <p:nvSpPr>
          <p:cNvPr id="6" name="Subtitle 2">
            <a:extLst>
              <a:ext uri="{FF2B5EF4-FFF2-40B4-BE49-F238E27FC236}">
                <a16:creationId xmlns:a16="http://schemas.microsoft.com/office/drawing/2014/main" id="{659A0B0B-6155-1E7E-4087-A0497CBDBD27}"/>
              </a:ext>
            </a:extLst>
          </p:cNvPr>
          <p:cNvSpPr txBox="1">
            <a:spLocks/>
          </p:cNvSpPr>
          <p:nvPr userDrawn="1"/>
        </p:nvSpPr>
        <p:spPr>
          <a:xfrm>
            <a:off x="1628774" y="3921043"/>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0731 3111500, 0731 3111501 </a:t>
            </a:r>
          </a:p>
        </p:txBody>
      </p:sp>
      <p:sp>
        <p:nvSpPr>
          <p:cNvPr id="7" name="Subtitle 2">
            <a:extLst>
              <a:ext uri="{FF2B5EF4-FFF2-40B4-BE49-F238E27FC236}">
                <a16:creationId xmlns:a16="http://schemas.microsoft.com/office/drawing/2014/main" id="{AC9BAA4C-4941-92F4-0508-9A086B1782D0}"/>
              </a:ext>
            </a:extLst>
          </p:cNvPr>
          <p:cNvSpPr txBox="1">
            <a:spLocks/>
          </p:cNvSpPr>
          <p:nvPr userDrawn="1"/>
        </p:nvSpPr>
        <p:spPr>
          <a:xfrm>
            <a:off x="1628774" y="4797553"/>
            <a:ext cx="8407400" cy="40520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www.medicaps.ac.in</a:t>
            </a:r>
          </a:p>
        </p:txBody>
      </p:sp>
      <p:sp>
        <p:nvSpPr>
          <p:cNvPr id="28" name="Subtitle 2">
            <a:extLst>
              <a:ext uri="{FF2B5EF4-FFF2-40B4-BE49-F238E27FC236}">
                <a16:creationId xmlns:a16="http://schemas.microsoft.com/office/drawing/2014/main" id="{A505A0EF-09C3-A69E-1757-50EC79E03CA8}"/>
              </a:ext>
            </a:extLst>
          </p:cNvPr>
          <p:cNvSpPr txBox="1">
            <a:spLocks/>
          </p:cNvSpPr>
          <p:nvPr userDrawn="1"/>
        </p:nvSpPr>
        <p:spPr>
          <a:xfrm>
            <a:off x="1628774" y="3030245"/>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A.B. Road, </a:t>
            </a:r>
            <a:r>
              <a:rPr lang="en-US" dirty="0" err="1">
                <a:solidFill>
                  <a:schemeClr val="tx1"/>
                </a:solidFill>
              </a:rPr>
              <a:t>Pigdamber</a:t>
            </a:r>
            <a:r>
              <a:rPr lang="en-US" dirty="0">
                <a:solidFill>
                  <a:schemeClr val="tx1"/>
                </a:solidFill>
              </a:rPr>
              <a:t>, Rau, Indore – 453331 </a:t>
            </a:r>
          </a:p>
        </p:txBody>
      </p:sp>
    </p:spTree>
    <p:extLst>
      <p:ext uri="{BB962C8B-B14F-4D97-AF65-F5344CB8AC3E}">
        <p14:creationId xmlns:p14="http://schemas.microsoft.com/office/powerpoint/2010/main" val="1682911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AB9EE-315E-A59D-7C69-7297198B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CD9C6-79F7-5E4F-5997-18FD9FB86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86A633-AE6E-E900-F6C6-2A97DCD18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7FF33C2-41D7-CC19-A386-62E89AE3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EF264C-5B54-0AB1-A4A1-B9DE1C36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99A10-5031-416A-8935-40C3BCBA0AF7}" type="slidenum">
              <a:rPr lang="en-US" smtClean="0"/>
              <a:t>‹#›</a:t>
            </a:fld>
            <a:endParaRPr lang="en-US"/>
          </a:p>
        </p:txBody>
      </p:sp>
    </p:spTree>
    <p:extLst>
      <p:ext uri="{BB962C8B-B14F-4D97-AF65-F5344CB8AC3E}">
        <p14:creationId xmlns:p14="http://schemas.microsoft.com/office/powerpoint/2010/main" val="1043216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047D-7384-7188-237B-A0D05A2053FC}"/>
              </a:ext>
            </a:extLst>
          </p:cNvPr>
          <p:cNvSpPr>
            <a:spLocks noGrp="1"/>
          </p:cNvSpPr>
          <p:nvPr>
            <p:ph type="ctrTitle"/>
          </p:nvPr>
        </p:nvSpPr>
        <p:spPr>
          <a:xfrm>
            <a:off x="944880" y="2797629"/>
            <a:ext cx="5624008" cy="872671"/>
          </a:xfrm>
        </p:spPr>
        <p:txBody>
          <a:bodyPr>
            <a:normAutofit fontScale="90000"/>
          </a:bodyPr>
          <a:lstStyle/>
          <a:p>
            <a:r>
              <a:rPr lang="en-US" dirty="0"/>
              <a:t>ByeJect</a:t>
            </a:r>
          </a:p>
        </p:txBody>
      </p:sp>
      <p:sp>
        <p:nvSpPr>
          <p:cNvPr id="3" name="Subtitle 2">
            <a:extLst>
              <a:ext uri="{FF2B5EF4-FFF2-40B4-BE49-F238E27FC236}">
                <a16:creationId xmlns:a16="http://schemas.microsoft.com/office/drawing/2014/main" id="{6FA028DC-049A-2F5E-A96B-81D104E86BBE}"/>
              </a:ext>
            </a:extLst>
          </p:cNvPr>
          <p:cNvSpPr>
            <a:spLocks noGrp="1"/>
          </p:cNvSpPr>
          <p:nvPr>
            <p:ph type="subTitle" idx="1"/>
          </p:nvPr>
        </p:nvSpPr>
        <p:spPr>
          <a:xfrm>
            <a:off x="944880" y="3670300"/>
            <a:ext cx="9144000" cy="605502"/>
          </a:xfrm>
        </p:spPr>
        <p:txBody>
          <a:bodyPr>
            <a:normAutofit fontScale="25000" lnSpcReduction="20000"/>
          </a:bodyPr>
          <a:lstStyle/>
          <a:p>
            <a:endParaRPr lang="en-US" sz="9600" dirty="0"/>
          </a:p>
          <a:p>
            <a:r>
              <a:rPr lang="en-US" sz="9600" dirty="0"/>
              <a:t>ByeJect: smart filters for smarter AI </a:t>
            </a:r>
          </a:p>
          <a:p>
            <a:endParaRPr lang="en-US" sz="9600" dirty="0"/>
          </a:p>
          <a:p>
            <a:r>
              <a:rPr lang="en-US" sz="9600" dirty="0"/>
              <a:t>By: Mohit Dubey</a:t>
            </a:r>
            <a:br>
              <a:rPr lang="en-US" sz="9600" dirty="0"/>
            </a:br>
            <a:r>
              <a:rPr lang="en-US" sz="9600" dirty="0"/>
              <a:t>      Priyanshi Dwivedi </a:t>
            </a:r>
            <a:br>
              <a:rPr lang="en-US" sz="9600" dirty="0"/>
            </a:br>
            <a:r>
              <a:rPr lang="en-US" sz="9600" dirty="0"/>
              <a:t>      Samiksha Pandey </a:t>
            </a:r>
          </a:p>
          <a:p>
            <a:endParaRPr lang="en-US" dirty="0"/>
          </a:p>
          <a:p>
            <a:endParaRPr lang="en-US" dirty="0"/>
          </a:p>
          <a:p>
            <a:endParaRPr lang="en-US" dirty="0"/>
          </a:p>
          <a:p>
            <a:endParaRPr lang="en-US" dirty="0"/>
          </a:p>
          <a:p>
            <a:endParaRPr lang="en-US" dirty="0"/>
          </a:p>
          <a:p>
            <a:endParaRPr lang="en-US" dirty="0"/>
          </a:p>
        </p:txBody>
      </p:sp>
      <p:sp>
        <p:nvSpPr>
          <p:cNvPr id="6" name="Rectangle 2">
            <a:extLst>
              <a:ext uri="{FF2B5EF4-FFF2-40B4-BE49-F238E27FC236}">
                <a16:creationId xmlns:a16="http://schemas.microsoft.com/office/drawing/2014/main" id="{43B19387-A0B2-FF43-8802-BC08621192AC}"/>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459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9BED-9991-4511-8E56-B840D096B3AF}"/>
              </a:ext>
            </a:extLst>
          </p:cNvPr>
          <p:cNvSpPr>
            <a:spLocks noGrp="1"/>
          </p:cNvSpPr>
          <p:nvPr>
            <p:ph type="title"/>
          </p:nvPr>
        </p:nvSpPr>
        <p:spPr>
          <a:xfrm>
            <a:off x="819150" y="-181362"/>
            <a:ext cx="10515600" cy="1325563"/>
          </a:xfrm>
        </p:spPr>
        <p:txBody>
          <a:bodyPr>
            <a:normAutofit/>
          </a:bodyPr>
          <a:lstStyle/>
          <a:p>
            <a:r>
              <a:rPr lang="en-US" sz="3600" dirty="0"/>
              <a:t>Introduction</a:t>
            </a:r>
          </a:p>
        </p:txBody>
      </p:sp>
      <p:sp>
        <p:nvSpPr>
          <p:cNvPr id="3" name="Content Placeholder 2">
            <a:extLst>
              <a:ext uri="{FF2B5EF4-FFF2-40B4-BE49-F238E27FC236}">
                <a16:creationId xmlns:a16="http://schemas.microsoft.com/office/drawing/2014/main" id="{5BCF0D38-FA68-09E4-0AA7-0D1685591CD9}"/>
              </a:ext>
            </a:extLst>
          </p:cNvPr>
          <p:cNvSpPr>
            <a:spLocks noGrp="1"/>
          </p:cNvSpPr>
          <p:nvPr>
            <p:ph idx="1"/>
          </p:nvPr>
        </p:nvSpPr>
        <p:spPr>
          <a:xfrm>
            <a:off x="857250" y="1042989"/>
            <a:ext cx="10115550" cy="5357810"/>
          </a:xfrm>
        </p:spPr>
        <p:txBody>
          <a:bodyPr>
            <a:normAutofit/>
          </a:bodyPr>
          <a:lstStyle/>
          <a:p>
            <a:r>
              <a:rPr lang="en-US" sz="2600" b="1" dirty="0"/>
              <a:t>ByeJect</a:t>
            </a:r>
            <a:r>
              <a:rPr lang="en-US" sz="2600" dirty="0"/>
              <a:t> is a robust proxy-based safety system designed to intercept, analyze, and regulate interactions between users and large language models. It acts as a gatekeeper — filtering both </a:t>
            </a:r>
            <a:r>
              <a:rPr lang="en-US" sz="2600" b="1" dirty="0"/>
              <a:t>incoming prompts</a:t>
            </a:r>
            <a:r>
              <a:rPr lang="en-US" sz="2600" dirty="0"/>
              <a:t> from users and </a:t>
            </a:r>
            <a:r>
              <a:rPr lang="en-US" sz="2600" b="1" dirty="0"/>
              <a:t>outgoing responses</a:t>
            </a:r>
            <a:r>
              <a:rPr lang="en-US" sz="2600" dirty="0"/>
              <a:t> from the AI.</a:t>
            </a:r>
          </a:p>
          <a:p>
            <a:r>
              <a:rPr lang="en-US" sz="2600" dirty="0"/>
              <a:t>ByeJect ensures that:</a:t>
            </a:r>
          </a:p>
          <a:p>
            <a:r>
              <a:rPr lang="en-US" sz="2600" dirty="0"/>
              <a:t>Unsafe user inputs never reach the AI unfiltered</a:t>
            </a:r>
          </a:p>
          <a:p>
            <a:r>
              <a:rPr lang="en-US" sz="2600" dirty="0"/>
              <a:t>AI outputs are sanitized before reaching the user</a:t>
            </a:r>
          </a:p>
          <a:p>
            <a:r>
              <a:rPr lang="en-US" sz="2600" dirty="0"/>
              <a:t>Content moderation is context-aware, policy-driven, and adaptable to new threats</a:t>
            </a:r>
          </a:p>
          <a:p>
            <a:r>
              <a:rPr lang="en-US" sz="2600" dirty="0"/>
              <a:t>This layered approach enhances the safety, reliability, and trustworthiness of AI systems, making them suitable for use in regulated or high-risk environments.</a:t>
            </a:r>
          </a:p>
          <a:p>
            <a:pPr marL="0" indent="0">
              <a:buNone/>
            </a:pPr>
            <a:endParaRPr lang="en-US" sz="4400" dirty="0"/>
          </a:p>
          <a:p>
            <a:pPr marL="0" indent="0">
              <a:buNone/>
            </a:pPr>
            <a:endParaRPr lang="en-US" sz="2400" dirty="0"/>
          </a:p>
          <a:p>
            <a:pPr marL="0" indent="0">
              <a:buNone/>
            </a:pPr>
            <a:endParaRPr lang="en-US" sz="2400" dirty="0"/>
          </a:p>
          <a:p>
            <a:pPr marL="0" indent="0">
              <a:buNone/>
            </a:pPr>
            <a:endParaRPr lang="en-US" sz="2500" dirty="0"/>
          </a:p>
          <a:p>
            <a:pPr marL="0" indent="0">
              <a:buNone/>
            </a:pPr>
            <a:endParaRPr lang="en-US" sz="2500" dirty="0"/>
          </a:p>
          <a:p>
            <a:pPr marL="0" indent="0">
              <a:buNone/>
            </a:pPr>
            <a:endParaRPr lang="en-US" sz="2500" dirty="0"/>
          </a:p>
          <a:p>
            <a:pPr marL="0" indent="0">
              <a:buNone/>
            </a:pP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20049E90-393B-0DDA-3FCB-DE78D4A64CF7}"/>
              </a:ext>
            </a:extLst>
          </p:cNvPr>
          <p:cNvSpPr>
            <a:spLocks noGrp="1"/>
          </p:cNvSpPr>
          <p:nvPr>
            <p:ph type="sldNum" sz="quarter" idx="4"/>
          </p:nvPr>
        </p:nvSpPr>
        <p:spPr/>
        <p:txBody>
          <a:bodyPr/>
          <a:lstStyle/>
          <a:p>
            <a:fld id="{94599A10-5031-416A-8935-40C3BCBA0AF7}" type="slidenum">
              <a:rPr lang="en-US" smtClean="0"/>
              <a:pPr/>
              <a:t>2</a:t>
            </a:fld>
            <a:endParaRPr lang="en-US" dirty="0"/>
          </a:p>
        </p:txBody>
      </p:sp>
      <p:cxnSp>
        <p:nvCxnSpPr>
          <p:cNvPr id="11" name="Straight Connector 10">
            <a:extLst>
              <a:ext uri="{FF2B5EF4-FFF2-40B4-BE49-F238E27FC236}">
                <a16:creationId xmlns:a16="http://schemas.microsoft.com/office/drawing/2014/main" id="{2959084E-2A94-93E2-EDDE-32EACBF01643}"/>
              </a:ext>
            </a:extLst>
          </p:cNvPr>
          <p:cNvCxnSpPr>
            <a:cxnSpLocks/>
          </p:cNvCxnSpPr>
          <p:nvPr/>
        </p:nvCxnSpPr>
        <p:spPr>
          <a:xfrm>
            <a:off x="819150" y="807731"/>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6745F0-24AC-C1FC-FD2F-9E8515345474}"/>
              </a:ext>
            </a:extLst>
          </p:cNvPr>
          <p:cNvCxnSpPr>
            <a:cxnSpLocks/>
          </p:cNvCxnSpPr>
          <p:nvPr/>
        </p:nvCxnSpPr>
        <p:spPr>
          <a:xfrm>
            <a:off x="4317161" y="807731"/>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98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7A31D-4DE5-8F69-503B-249C007B6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9375B-2534-304A-7D8C-E82799F31625}"/>
              </a:ext>
            </a:extLst>
          </p:cNvPr>
          <p:cNvSpPr>
            <a:spLocks noGrp="1"/>
          </p:cNvSpPr>
          <p:nvPr>
            <p:ph type="title"/>
          </p:nvPr>
        </p:nvSpPr>
        <p:spPr/>
        <p:txBody>
          <a:bodyPr>
            <a:normAutofit/>
          </a:bodyPr>
          <a:lstStyle/>
          <a:p>
            <a:r>
              <a:rPr lang="en-US" sz="3600" dirty="0"/>
              <a:t>Problem Statement</a:t>
            </a:r>
          </a:p>
        </p:txBody>
      </p:sp>
      <p:sp>
        <p:nvSpPr>
          <p:cNvPr id="3" name="Content Placeholder 2">
            <a:extLst>
              <a:ext uri="{FF2B5EF4-FFF2-40B4-BE49-F238E27FC236}">
                <a16:creationId xmlns:a16="http://schemas.microsoft.com/office/drawing/2014/main" id="{EDD7ADF3-314D-3F64-4D25-BE54C45467D1}"/>
              </a:ext>
            </a:extLst>
          </p:cNvPr>
          <p:cNvSpPr>
            <a:spLocks noGrp="1"/>
          </p:cNvSpPr>
          <p:nvPr>
            <p:ph idx="1"/>
          </p:nvPr>
        </p:nvSpPr>
        <p:spPr/>
        <p:txBody>
          <a:bodyPr>
            <a:normAutofit fontScale="92500" lnSpcReduction="10000"/>
          </a:bodyPr>
          <a:lstStyle/>
          <a:p>
            <a:r>
              <a:rPr lang="en-US" sz="2400" dirty="0"/>
              <a:t>As AI language models (LLMs) become increasingly integrated into applications across domains, they present unique security, safety, and ethical challenges. Users may unknowingly or maliciously input harmful, unsafe, or sensitive data, and the AI might generate outputs that are inappropriate, biased, or privacy-violating. Unfiltered interactions between users and LLMs can lead to:</a:t>
            </a:r>
          </a:p>
          <a:p>
            <a:r>
              <a:rPr lang="en-US" sz="2400" dirty="0"/>
              <a:t>Leakage of personal or confidential data</a:t>
            </a:r>
          </a:p>
          <a:p>
            <a:r>
              <a:rPr lang="en-US" sz="2400" dirty="0"/>
              <a:t>Generation of offensive or harmful content</a:t>
            </a:r>
          </a:p>
          <a:p>
            <a:r>
              <a:rPr lang="en-US" sz="2400" dirty="0"/>
              <a:t>Compliance violations (e.g., GDPR, HIPAA)</a:t>
            </a:r>
          </a:p>
          <a:p>
            <a:r>
              <a:rPr lang="en-US" sz="2400" dirty="0"/>
              <a:t>Prompt injection or jailbreak attempts targeting model vulnerabilities</a:t>
            </a:r>
          </a:p>
          <a:p>
            <a:r>
              <a:rPr lang="en-US" sz="2400" dirty="0"/>
              <a:t>There is a critical need for an intelligent intermediary system that ensures safe, ethical, and compliant use of LLMs without compromising usability or performance.</a:t>
            </a:r>
          </a:p>
          <a:p>
            <a:pPr marL="0" indent="0">
              <a:buNone/>
            </a:pPr>
            <a:br>
              <a:rPr lang="en-US" sz="2400" dirty="0"/>
            </a:br>
            <a:endParaRPr lang="en-US" sz="2400" dirty="0"/>
          </a:p>
          <a:p>
            <a:pPr marL="0" indent="0">
              <a:buNone/>
            </a:pPr>
            <a:endParaRPr lang="en-US" sz="2400" dirty="0"/>
          </a:p>
          <a:p>
            <a:endParaRPr lang="en-US" sz="2400" dirty="0"/>
          </a:p>
          <a:p>
            <a:endParaRPr lang="en-US" sz="2500" dirty="0"/>
          </a:p>
          <a:p>
            <a:pPr marL="0" indent="0">
              <a:buNone/>
            </a:pP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36C30EAE-A411-EFB2-DE98-4C280900D010}"/>
              </a:ext>
            </a:extLst>
          </p:cNvPr>
          <p:cNvSpPr>
            <a:spLocks noGrp="1"/>
          </p:cNvSpPr>
          <p:nvPr>
            <p:ph type="sldNum" sz="quarter" idx="4"/>
          </p:nvPr>
        </p:nvSpPr>
        <p:spPr/>
        <p:txBody>
          <a:bodyPr/>
          <a:lstStyle/>
          <a:p>
            <a:fld id="{94599A10-5031-416A-8935-40C3BCBA0AF7}" type="slidenum">
              <a:rPr lang="en-US" smtClean="0"/>
              <a:pPr/>
              <a:t>3</a:t>
            </a:fld>
            <a:endParaRPr lang="en-US" dirty="0"/>
          </a:p>
        </p:txBody>
      </p:sp>
      <p:cxnSp>
        <p:nvCxnSpPr>
          <p:cNvPr id="6" name="Straight Connector 5">
            <a:extLst>
              <a:ext uri="{FF2B5EF4-FFF2-40B4-BE49-F238E27FC236}">
                <a16:creationId xmlns:a16="http://schemas.microsoft.com/office/drawing/2014/main" id="{40B34C24-32D7-F65D-4FFB-A7F109971889}"/>
              </a:ext>
            </a:extLst>
          </p:cNvPr>
          <p:cNvCxnSpPr>
            <a:cxnSpLocks/>
          </p:cNvCxnSpPr>
          <p:nvPr/>
        </p:nvCxnSpPr>
        <p:spPr>
          <a:xfrm>
            <a:off x="838200" y="13809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722F9B2-52E7-86E5-088F-AB3D6B8C5033}"/>
              </a:ext>
            </a:extLst>
          </p:cNvPr>
          <p:cNvCxnSpPr>
            <a:cxnSpLocks/>
          </p:cNvCxnSpPr>
          <p:nvPr/>
        </p:nvCxnSpPr>
        <p:spPr>
          <a:xfrm>
            <a:off x="4236198" y="13809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257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C8F5-2145-DEEF-F356-46206CF31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038C-FF73-339E-268C-262BBED2E9EC}"/>
              </a:ext>
            </a:extLst>
          </p:cNvPr>
          <p:cNvSpPr>
            <a:spLocks noGrp="1"/>
          </p:cNvSpPr>
          <p:nvPr>
            <p:ph type="title"/>
          </p:nvPr>
        </p:nvSpPr>
        <p:spPr>
          <a:xfrm>
            <a:off x="838200" y="309717"/>
            <a:ext cx="10515600" cy="1325563"/>
          </a:xfrm>
        </p:spPr>
        <p:txBody>
          <a:bodyPr>
            <a:normAutofit/>
          </a:bodyPr>
          <a:lstStyle/>
          <a:p>
            <a:r>
              <a:rPr lang="en-US" sz="3600" dirty="0"/>
              <a:t>Solution Domain</a:t>
            </a:r>
          </a:p>
        </p:txBody>
      </p:sp>
      <p:sp>
        <p:nvSpPr>
          <p:cNvPr id="3" name="Content Placeholder 2">
            <a:extLst>
              <a:ext uri="{FF2B5EF4-FFF2-40B4-BE49-F238E27FC236}">
                <a16:creationId xmlns:a16="http://schemas.microsoft.com/office/drawing/2014/main" id="{A5392523-01BB-3FBC-8D59-67EED1E53216}"/>
              </a:ext>
            </a:extLst>
          </p:cNvPr>
          <p:cNvSpPr>
            <a:spLocks noGrp="1"/>
          </p:cNvSpPr>
          <p:nvPr>
            <p:ph idx="1"/>
          </p:nvPr>
        </p:nvSpPr>
        <p:spPr>
          <a:xfrm>
            <a:off x="838200" y="1635280"/>
            <a:ext cx="10515600" cy="4351338"/>
          </a:xfrm>
        </p:spPr>
        <p:txBody>
          <a:bodyPr>
            <a:normAutofit/>
          </a:bodyPr>
          <a:lstStyle/>
          <a:p>
            <a:r>
              <a:rPr lang="en-US" sz="2400" dirty="0"/>
              <a:t>ByeJect operates in the </a:t>
            </a:r>
            <a:r>
              <a:rPr lang="en-US" sz="2400" b="1" dirty="0"/>
              <a:t>AI safety and security</a:t>
            </a:r>
            <a:r>
              <a:rPr lang="en-US" sz="2400" dirty="0"/>
              <a:t> domain, specifically focusing on:</a:t>
            </a:r>
          </a:p>
          <a:p>
            <a:r>
              <a:rPr lang="en-US" sz="2400" b="1" dirty="0"/>
              <a:t>Prompt moderation</a:t>
            </a:r>
            <a:r>
              <a:rPr lang="en-US" sz="2400" dirty="0"/>
              <a:t>: Detecting and handling harmful or risky inputs</a:t>
            </a:r>
          </a:p>
          <a:p>
            <a:r>
              <a:rPr lang="en-US" sz="2400" b="1" dirty="0"/>
              <a:t>Response moderation</a:t>
            </a:r>
            <a:r>
              <a:rPr lang="en-US" sz="2400" dirty="0"/>
              <a:t>: Filtering and adjusting unsafe outputs</a:t>
            </a:r>
          </a:p>
          <a:p>
            <a:r>
              <a:rPr lang="en-US" sz="2400" b="1" dirty="0"/>
              <a:t>Policy enforcement</a:t>
            </a:r>
            <a:r>
              <a:rPr lang="en-US" sz="2400" dirty="0"/>
              <a:t>: Applying configurable rules and thresholds</a:t>
            </a:r>
          </a:p>
          <a:p>
            <a:r>
              <a:rPr lang="en-US" sz="2400" b="1" dirty="0"/>
              <a:t>Data privacy and compliance</a:t>
            </a:r>
            <a:r>
              <a:rPr lang="en-US" sz="2400" dirty="0"/>
              <a:t>: Removing PII, sensitive terms, or banned expressions</a:t>
            </a:r>
          </a:p>
          <a:p>
            <a:r>
              <a:rPr lang="en-US" sz="2400" dirty="0"/>
              <a:t>The system bridges the gap between general-purpose LLMs and application-specific safety requirements, ensuring context-appropriate usage.</a:t>
            </a:r>
          </a:p>
          <a:p>
            <a:endParaRPr lang="en-US" sz="2500" dirty="0"/>
          </a:p>
        </p:txBody>
      </p:sp>
      <p:sp>
        <p:nvSpPr>
          <p:cNvPr id="4" name="Slide Number Placeholder 3">
            <a:extLst>
              <a:ext uri="{FF2B5EF4-FFF2-40B4-BE49-F238E27FC236}">
                <a16:creationId xmlns:a16="http://schemas.microsoft.com/office/drawing/2014/main" id="{A7BAEC1E-B579-65D0-8FF0-FB9B3C9782D3}"/>
              </a:ext>
            </a:extLst>
          </p:cNvPr>
          <p:cNvSpPr>
            <a:spLocks noGrp="1"/>
          </p:cNvSpPr>
          <p:nvPr>
            <p:ph type="sldNum" sz="quarter" idx="4"/>
          </p:nvPr>
        </p:nvSpPr>
        <p:spPr/>
        <p:txBody>
          <a:bodyPr/>
          <a:lstStyle/>
          <a:p>
            <a:fld id="{94599A10-5031-416A-8935-40C3BCBA0AF7}" type="slidenum">
              <a:rPr lang="en-US" smtClean="0"/>
              <a:pPr/>
              <a:t>4</a:t>
            </a:fld>
            <a:endParaRPr lang="en-US" dirty="0"/>
          </a:p>
        </p:txBody>
      </p:sp>
      <p:cxnSp>
        <p:nvCxnSpPr>
          <p:cNvPr id="6" name="Straight Connector 5">
            <a:extLst>
              <a:ext uri="{FF2B5EF4-FFF2-40B4-BE49-F238E27FC236}">
                <a16:creationId xmlns:a16="http://schemas.microsoft.com/office/drawing/2014/main" id="{012C5F86-133B-A755-E799-07891E958224}"/>
              </a:ext>
            </a:extLst>
          </p:cNvPr>
          <p:cNvCxnSpPr>
            <a:cxnSpLocks/>
          </p:cNvCxnSpPr>
          <p:nvPr/>
        </p:nvCxnSpPr>
        <p:spPr>
          <a:xfrm>
            <a:off x="705465" y="128986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20C357-7464-A08E-2006-96611DEFD8F7}"/>
              </a:ext>
            </a:extLst>
          </p:cNvPr>
          <p:cNvCxnSpPr>
            <a:cxnSpLocks/>
          </p:cNvCxnSpPr>
          <p:nvPr/>
        </p:nvCxnSpPr>
        <p:spPr>
          <a:xfrm>
            <a:off x="4203476" y="128986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133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8F1E-F6EB-6B36-E468-CBBA2BA13199}"/>
              </a:ext>
            </a:extLst>
          </p:cNvPr>
          <p:cNvSpPr>
            <a:spLocks noGrp="1"/>
          </p:cNvSpPr>
          <p:nvPr>
            <p:ph type="title"/>
          </p:nvPr>
        </p:nvSpPr>
        <p:spPr>
          <a:xfrm>
            <a:off x="838200" y="-169817"/>
            <a:ext cx="10515600" cy="1325563"/>
          </a:xfrm>
        </p:spPr>
        <p:txBody>
          <a:bodyPr/>
          <a:lstStyle/>
          <a:p>
            <a:r>
              <a:rPr lang="en-IN" dirty="0"/>
              <a:t>Methodology</a:t>
            </a:r>
          </a:p>
        </p:txBody>
      </p:sp>
      <p:sp>
        <p:nvSpPr>
          <p:cNvPr id="3" name="Content Placeholder 2">
            <a:extLst>
              <a:ext uri="{FF2B5EF4-FFF2-40B4-BE49-F238E27FC236}">
                <a16:creationId xmlns:a16="http://schemas.microsoft.com/office/drawing/2014/main" id="{E8B54F04-27F8-524F-E12E-B84BF26DAFC7}"/>
              </a:ext>
            </a:extLst>
          </p:cNvPr>
          <p:cNvSpPr>
            <a:spLocks noGrp="1"/>
          </p:cNvSpPr>
          <p:nvPr>
            <p:ph idx="1"/>
          </p:nvPr>
        </p:nvSpPr>
        <p:spPr>
          <a:xfrm>
            <a:off x="838200" y="1155745"/>
            <a:ext cx="10515600" cy="4814795"/>
          </a:xfrm>
        </p:spPr>
        <p:txBody>
          <a:bodyPr>
            <a:normAutofit/>
          </a:bodyPr>
          <a:lstStyle/>
          <a:p>
            <a:r>
              <a:rPr lang="en-US" sz="2400" dirty="0"/>
              <a:t>ByeJect follows a modular and rule-based architecture supported by AI-assisted classifiers and NLP pipelines:</a:t>
            </a:r>
          </a:p>
          <a:p>
            <a:r>
              <a:rPr lang="en-US" sz="2400" b="1" dirty="0"/>
              <a:t>Request Interception</a:t>
            </a:r>
            <a:endParaRPr lang="en-US" sz="2400" dirty="0"/>
          </a:p>
          <a:p>
            <a:pPr lvl="1"/>
            <a:r>
              <a:rPr lang="en-US" sz="2000" dirty="0"/>
              <a:t>Every user message is intercepted before reaching the LLM.</a:t>
            </a:r>
          </a:p>
          <a:p>
            <a:r>
              <a:rPr lang="en-US" sz="2400" b="1" dirty="0"/>
              <a:t>Input Classification &amp; Actioning</a:t>
            </a:r>
            <a:endParaRPr lang="en-US" sz="2400" dirty="0"/>
          </a:p>
          <a:p>
            <a:pPr lvl="1"/>
            <a:r>
              <a:rPr lang="en-US" sz="2000" dirty="0"/>
              <a:t>The message is analyzed using NLP and AI moderation models.</a:t>
            </a:r>
          </a:p>
          <a:p>
            <a:pPr lvl="1"/>
            <a:r>
              <a:rPr lang="en-US" sz="2000" dirty="0"/>
              <a:t>Based on content severity, one of the following actions is applied:</a:t>
            </a:r>
          </a:p>
          <a:p>
            <a:pPr lvl="2"/>
            <a:r>
              <a:rPr lang="en-US" b="1" dirty="0"/>
              <a:t>Accept</a:t>
            </a:r>
            <a:r>
              <a:rPr lang="en-US" dirty="0"/>
              <a:t>: Safe → Forward to LLM.</a:t>
            </a:r>
          </a:p>
          <a:p>
            <a:pPr lvl="2"/>
            <a:r>
              <a:rPr lang="en-US" b="1" dirty="0"/>
              <a:t>Warning</a:t>
            </a:r>
            <a:r>
              <a:rPr lang="en-US" dirty="0"/>
              <a:t>: Slight risk → Warn user, then forward.</a:t>
            </a:r>
          </a:p>
          <a:p>
            <a:pPr lvl="2"/>
            <a:r>
              <a:rPr lang="en-US" b="1" dirty="0"/>
              <a:t>Alter</a:t>
            </a:r>
            <a:r>
              <a:rPr lang="en-US" dirty="0"/>
              <a:t>: Unsafe elements detected → Modify, notify, then forward.</a:t>
            </a:r>
          </a:p>
          <a:p>
            <a:pPr lvl="2"/>
            <a:r>
              <a:rPr lang="en-US" b="1" dirty="0"/>
              <a:t>Reject</a:t>
            </a:r>
            <a:r>
              <a:rPr lang="en-US" dirty="0"/>
              <a:t>: Malicious or illegal → Block immediately.</a:t>
            </a:r>
          </a:p>
          <a:p>
            <a:endParaRPr lang="en-IN" sz="2200" b="1" u="sng" dirty="0"/>
          </a:p>
          <a:p>
            <a:endParaRPr lang="en-IN" sz="2400" dirty="0"/>
          </a:p>
          <a:p>
            <a:pPr marL="0" indent="0">
              <a:buNone/>
            </a:pPr>
            <a:endParaRPr lang="en-IN" sz="2500" b="1" dirty="0"/>
          </a:p>
          <a:p>
            <a:endParaRPr lang="en-IN" sz="2500" b="1" dirty="0"/>
          </a:p>
          <a:p>
            <a:endParaRPr lang="en-IN" sz="2500" b="1" dirty="0"/>
          </a:p>
          <a:p>
            <a:endParaRPr lang="en-IN" sz="2500" b="1" dirty="0"/>
          </a:p>
        </p:txBody>
      </p:sp>
      <p:sp>
        <p:nvSpPr>
          <p:cNvPr id="4" name="Slide Number Placeholder 3">
            <a:extLst>
              <a:ext uri="{FF2B5EF4-FFF2-40B4-BE49-F238E27FC236}">
                <a16:creationId xmlns:a16="http://schemas.microsoft.com/office/drawing/2014/main" id="{EE584D6B-543F-DAAF-D00C-4C17FAD46321}"/>
              </a:ext>
            </a:extLst>
          </p:cNvPr>
          <p:cNvSpPr>
            <a:spLocks noGrp="1"/>
          </p:cNvSpPr>
          <p:nvPr>
            <p:ph type="sldNum" sz="quarter" idx="4"/>
          </p:nvPr>
        </p:nvSpPr>
        <p:spPr/>
        <p:txBody>
          <a:bodyPr/>
          <a:lstStyle/>
          <a:p>
            <a:fld id="{94599A10-5031-416A-8935-40C3BCBA0AF7}" type="slidenum">
              <a:rPr lang="en-US" smtClean="0"/>
              <a:pPr/>
              <a:t>5</a:t>
            </a:fld>
            <a:endParaRPr lang="en-US" dirty="0"/>
          </a:p>
        </p:txBody>
      </p:sp>
      <p:cxnSp>
        <p:nvCxnSpPr>
          <p:cNvPr id="5" name="Straight Connector 4">
            <a:extLst>
              <a:ext uri="{FF2B5EF4-FFF2-40B4-BE49-F238E27FC236}">
                <a16:creationId xmlns:a16="http://schemas.microsoft.com/office/drawing/2014/main" id="{5FA58878-942B-112E-1C0C-CFDC46C8BA1F}"/>
              </a:ext>
            </a:extLst>
          </p:cNvPr>
          <p:cNvCxnSpPr>
            <a:cxnSpLocks/>
          </p:cNvCxnSpPr>
          <p:nvPr/>
        </p:nvCxnSpPr>
        <p:spPr>
          <a:xfrm>
            <a:off x="838200" y="887459"/>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A7194BD-4A8C-C40A-174C-0328BD86E7E4}"/>
              </a:ext>
            </a:extLst>
          </p:cNvPr>
          <p:cNvCxnSpPr>
            <a:cxnSpLocks/>
          </p:cNvCxnSpPr>
          <p:nvPr/>
        </p:nvCxnSpPr>
        <p:spPr>
          <a:xfrm>
            <a:off x="4191069" y="887459"/>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406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5EE0ED-5D50-7A70-16E5-472E2D0AE802}"/>
              </a:ext>
            </a:extLst>
          </p:cNvPr>
          <p:cNvSpPr>
            <a:spLocks noGrp="1"/>
          </p:cNvSpPr>
          <p:nvPr>
            <p:ph idx="1"/>
          </p:nvPr>
        </p:nvSpPr>
        <p:spPr>
          <a:xfrm>
            <a:off x="435429" y="404649"/>
            <a:ext cx="11306628" cy="6068721"/>
          </a:xfrm>
        </p:spPr>
        <p:txBody>
          <a:bodyPr>
            <a:normAutofit/>
          </a:bodyPr>
          <a:lstStyle/>
          <a:p>
            <a:r>
              <a:rPr lang="en-US" sz="2400" b="1" dirty="0"/>
              <a:t>LLM Response Handling</a:t>
            </a:r>
            <a:endParaRPr lang="en-US" sz="2400" dirty="0"/>
          </a:p>
          <a:p>
            <a:pPr lvl="1"/>
            <a:r>
              <a:rPr lang="en-US" sz="1800" dirty="0"/>
              <a:t>AI output is also scanned before being displayed to the user.</a:t>
            </a:r>
          </a:p>
          <a:p>
            <a:pPr lvl="1"/>
            <a:r>
              <a:rPr lang="en-US" sz="1800" dirty="0"/>
              <a:t>If output is:</a:t>
            </a:r>
          </a:p>
          <a:p>
            <a:pPr lvl="2"/>
            <a:r>
              <a:rPr lang="en-US" sz="1800" dirty="0"/>
              <a:t>Safe → Deliver as is.</a:t>
            </a:r>
          </a:p>
          <a:p>
            <a:pPr lvl="2"/>
            <a:r>
              <a:rPr lang="en-US" sz="1800" dirty="0"/>
              <a:t>Mildly </a:t>
            </a:r>
            <a:r>
              <a:rPr lang="en-US" sz="1700" dirty="0"/>
              <a:t>problematic</a:t>
            </a:r>
            <a:r>
              <a:rPr lang="en-US" sz="1800" dirty="0"/>
              <a:t> → Show with warning.</a:t>
            </a:r>
          </a:p>
          <a:p>
            <a:pPr lvl="2"/>
            <a:r>
              <a:rPr lang="en-US" sz="1800" dirty="0"/>
              <a:t>Unsafe → Alter and present clean version.</a:t>
            </a:r>
          </a:p>
          <a:p>
            <a:r>
              <a:rPr lang="en-US" sz="2400" b="1" dirty="0"/>
              <a:t>Logging &amp; Feedback</a:t>
            </a:r>
            <a:endParaRPr lang="en-US" sz="2400" dirty="0"/>
          </a:p>
          <a:p>
            <a:pPr lvl="1"/>
            <a:r>
              <a:rPr lang="en-US" sz="1800" dirty="0"/>
              <a:t>All actions are logged for auditability.</a:t>
            </a:r>
          </a:p>
          <a:p>
            <a:pPr lvl="1"/>
            <a:r>
              <a:rPr lang="en-US" sz="1800" dirty="0"/>
              <a:t>Optionally includes a feedback loop to refine rules and models.</a:t>
            </a:r>
          </a:p>
          <a:p>
            <a:pPr marL="0" indent="0">
              <a:buNone/>
            </a:pPr>
            <a:endParaRPr lang="en-US" sz="2200" b="1" dirty="0"/>
          </a:p>
        </p:txBody>
      </p:sp>
      <p:sp>
        <p:nvSpPr>
          <p:cNvPr id="4" name="Slide Number Placeholder 3">
            <a:extLst>
              <a:ext uri="{FF2B5EF4-FFF2-40B4-BE49-F238E27FC236}">
                <a16:creationId xmlns:a16="http://schemas.microsoft.com/office/drawing/2014/main" id="{18A0F3E6-16F4-FC92-2500-4CE2CE297614}"/>
              </a:ext>
            </a:extLst>
          </p:cNvPr>
          <p:cNvSpPr>
            <a:spLocks noGrp="1"/>
          </p:cNvSpPr>
          <p:nvPr>
            <p:ph type="sldNum" sz="quarter" idx="4"/>
          </p:nvPr>
        </p:nvSpPr>
        <p:spPr/>
        <p:txBody>
          <a:bodyPr/>
          <a:lstStyle/>
          <a:p>
            <a:fld id="{94599A10-5031-416A-8935-40C3BCBA0AF7}" type="slidenum">
              <a:rPr lang="en-US" smtClean="0"/>
              <a:pPr/>
              <a:t>6</a:t>
            </a:fld>
            <a:endParaRPr lang="en-US" dirty="0"/>
          </a:p>
        </p:txBody>
      </p:sp>
    </p:spTree>
    <p:extLst>
      <p:ext uri="{BB962C8B-B14F-4D97-AF65-F5344CB8AC3E}">
        <p14:creationId xmlns:p14="http://schemas.microsoft.com/office/powerpoint/2010/main" val="2583852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5994-7D4A-E533-AF69-6EC47F9D76CE}"/>
              </a:ext>
            </a:extLst>
          </p:cNvPr>
          <p:cNvSpPr>
            <a:spLocks noGrp="1"/>
          </p:cNvSpPr>
          <p:nvPr>
            <p:ph type="title"/>
          </p:nvPr>
        </p:nvSpPr>
        <p:spPr/>
        <p:txBody>
          <a:bodyPr>
            <a:normAutofit/>
          </a:bodyPr>
          <a:lstStyle/>
          <a:p>
            <a:r>
              <a:rPr lang="en-IN" sz="3600" dirty="0"/>
              <a:t>Hardware and Software Requirements</a:t>
            </a:r>
          </a:p>
        </p:txBody>
      </p:sp>
      <p:sp>
        <p:nvSpPr>
          <p:cNvPr id="3" name="Content Placeholder 2">
            <a:extLst>
              <a:ext uri="{FF2B5EF4-FFF2-40B4-BE49-F238E27FC236}">
                <a16:creationId xmlns:a16="http://schemas.microsoft.com/office/drawing/2014/main" id="{C6EB6480-9BA8-0872-D018-CA2C055370CA}"/>
              </a:ext>
            </a:extLst>
          </p:cNvPr>
          <p:cNvSpPr>
            <a:spLocks noGrp="1"/>
          </p:cNvSpPr>
          <p:nvPr>
            <p:ph idx="1"/>
          </p:nvPr>
        </p:nvSpPr>
        <p:spPr>
          <a:xfrm>
            <a:off x="838200" y="1639662"/>
            <a:ext cx="10515600" cy="4351338"/>
          </a:xfrm>
        </p:spPr>
        <p:txBody>
          <a:bodyPr>
            <a:normAutofit/>
          </a:bodyPr>
          <a:lstStyle/>
          <a:p>
            <a:r>
              <a:rPr lang="en-US" b="1" dirty="0"/>
              <a:t>Hardware Requirements</a:t>
            </a:r>
          </a:p>
          <a:p>
            <a:r>
              <a:rPr lang="en-US" dirty="0"/>
              <a:t>Server with:</a:t>
            </a:r>
          </a:p>
          <a:p>
            <a:pPr lvl="1"/>
            <a:r>
              <a:rPr lang="en-US" dirty="0"/>
              <a:t>Minimum 16 GB RAM</a:t>
            </a:r>
          </a:p>
          <a:p>
            <a:pPr lvl="1"/>
            <a:r>
              <a:rPr lang="en-US" dirty="0"/>
              <a:t>Quad-core CPU (x86_64 architecture)</a:t>
            </a:r>
          </a:p>
          <a:p>
            <a:pPr lvl="1"/>
            <a:r>
              <a:rPr lang="en-US" dirty="0"/>
              <a:t>Optional GPU for real-time moderation (if using heavy ML models)</a:t>
            </a:r>
          </a:p>
          <a:p>
            <a:r>
              <a:rPr lang="en-US" dirty="0"/>
              <a:t>Secure storage (SSD)</a:t>
            </a:r>
          </a:p>
          <a:p>
            <a:r>
              <a:rPr lang="en-US" dirty="0"/>
              <a:t>Network connectivity (secure and low-latency)</a:t>
            </a:r>
          </a:p>
          <a:p>
            <a:pPr marL="0" indent="0">
              <a:buNone/>
            </a:pPr>
            <a:endParaRPr lang="en-IN" sz="2500" b="1" u="sng" dirty="0"/>
          </a:p>
        </p:txBody>
      </p:sp>
      <p:sp>
        <p:nvSpPr>
          <p:cNvPr id="4" name="Slide Number Placeholder 3">
            <a:extLst>
              <a:ext uri="{FF2B5EF4-FFF2-40B4-BE49-F238E27FC236}">
                <a16:creationId xmlns:a16="http://schemas.microsoft.com/office/drawing/2014/main" id="{7F16A426-DAE7-171D-D36F-86C7DA31DE26}"/>
              </a:ext>
            </a:extLst>
          </p:cNvPr>
          <p:cNvSpPr>
            <a:spLocks noGrp="1"/>
          </p:cNvSpPr>
          <p:nvPr>
            <p:ph type="sldNum" sz="quarter" idx="4"/>
          </p:nvPr>
        </p:nvSpPr>
        <p:spPr/>
        <p:txBody>
          <a:bodyPr/>
          <a:lstStyle/>
          <a:p>
            <a:fld id="{94599A10-5031-416A-8935-40C3BCBA0AF7}" type="slidenum">
              <a:rPr lang="en-US" smtClean="0"/>
              <a:pPr/>
              <a:t>7</a:t>
            </a:fld>
            <a:endParaRPr lang="en-US" dirty="0"/>
          </a:p>
        </p:txBody>
      </p:sp>
      <p:cxnSp>
        <p:nvCxnSpPr>
          <p:cNvPr id="5" name="Straight Connector 4">
            <a:extLst>
              <a:ext uri="{FF2B5EF4-FFF2-40B4-BE49-F238E27FC236}">
                <a16:creationId xmlns:a16="http://schemas.microsoft.com/office/drawing/2014/main" id="{BA990945-B20B-2103-3050-D69350C0982A}"/>
              </a:ext>
            </a:extLst>
          </p:cNvPr>
          <p:cNvCxnSpPr>
            <a:cxnSpLocks/>
          </p:cNvCxnSpPr>
          <p:nvPr/>
        </p:nvCxnSpPr>
        <p:spPr>
          <a:xfrm>
            <a:off x="705465" y="1289865"/>
            <a:ext cx="4418078"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DB7CC3F-269A-C2DD-B189-DA7E16D7033F}"/>
              </a:ext>
            </a:extLst>
          </p:cNvPr>
          <p:cNvCxnSpPr>
            <a:cxnSpLocks/>
          </p:cNvCxnSpPr>
          <p:nvPr/>
        </p:nvCxnSpPr>
        <p:spPr>
          <a:xfrm>
            <a:off x="4963886" y="1289865"/>
            <a:ext cx="324808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682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CE6D4B-1DF9-ABB9-F666-ECA6A92B33C4}"/>
              </a:ext>
            </a:extLst>
          </p:cNvPr>
          <p:cNvSpPr>
            <a:spLocks noGrp="1"/>
          </p:cNvSpPr>
          <p:nvPr>
            <p:ph idx="1"/>
          </p:nvPr>
        </p:nvSpPr>
        <p:spPr>
          <a:xfrm>
            <a:off x="693057" y="606425"/>
            <a:ext cx="10515600" cy="5587546"/>
          </a:xfrm>
        </p:spPr>
        <p:txBody>
          <a:bodyPr>
            <a:normAutofit fontScale="92500" lnSpcReduction="20000"/>
          </a:bodyPr>
          <a:lstStyle/>
          <a:p>
            <a:r>
              <a:rPr lang="en-IN" sz="3000" b="1" dirty="0"/>
              <a:t>Software Requirements</a:t>
            </a:r>
          </a:p>
          <a:p>
            <a:r>
              <a:rPr lang="en-IN" sz="1900" b="1" dirty="0"/>
              <a:t>Frontend:</a:t>
            </a:r>
            <a:endParaRPr lang="en-IN" sz="1900" dirty="0"/>
          </a:p>
          <a:p>
            <a:r>
              <a:rPr lang="en-IN" sz="1900" dirty="0"/>
              <a:t>React.js / Vue.js (for user interface)</a:t>
            </a:r>
          </a:p>
          <a:p>
            <a:r>
              <a:rPr lang="en-IN" sz="1900" dirty="0"/>
              <a:t>Authentication system (OAuth 2.0 / JWT)</a:t>
            </a:r>
          </a:p>
          <a:p>
            <a:r>
              <a:rPr lang="en-IN" sz="1900" b="1" dirty="0"/>
              <a:t>Backend:</a:t>
            </a:r>
            <a:endParaRPr lang="en-IN" sz="1900" dirty="0"/>
          </a:p>
          <a:p>
            <a:r>
              <a:rPr lang="en-IN" sz="1900" dirty="0"/>
              <a:t>Node.js / Python (Flask, </a:t>
            </a:r>
            <a:r>
              <a:rPr lang="en-IN" sz="1900" dirty="0" err="1"/>
              <a:t>FastAPI</a:t>
            </a:r>
            <a:r>
              <a:rPr lang="en-IN" sz="1900" dirty="0"/>
              <a:t>)</a:t>
            </a:r>
          </a:p>
          <a:p>
            <a:r>
              <a:rPr lang="en-IN" sz="1900" dirty="0"/>
              <a:t>LLM Access (e.g., OpenAI API, local LLM like </a:t>
            </a:r>
            <a:r>
              <a:rPr lang="en-IN" sz="1900" dirty="0" err="1"/>
              <a:t>LLaMA</a:t>
            </a:r>
            <a:r>
              <a:rPr lang="en-IN" sz="1900" dirty="0"/>
              <a:t>)</a:t>
            </a:r>
          </a:p>
          <a:p>
            <a:r>
              <a:rPr lang="en-IN" sz="1900" dirty="0"/>
              <a:t>Middleware services for filtering logic</a:t>
            </a:r>
          </a:p>
          <a:p>
            <a:r>
              <a:rPr lang="en-IN" sz="1900" b="1" dirty="0"/>
              <a:t>Content Moderation Tools:</a:t>
            </a:r>
            <a:endParaRPr lang="en-IN" sz="1900" dirty="0"/>
          </a:p>
          <a:p>
            <a:r>
              <a:rPr lang="en-IN" sz="1900" dirty="0" err="1"/>
              <a:t>SpaCy</a:t>
            </a:r>
            <a:r>
              <a:rPr lang="en-IN" sz="1900" dirty="0"/>
              <a:t> / Transformers (NLP)</a:t>
            </a:r>
          </a:p>
          <a:p>
            <a:r>
              <a:rPr lang="en-IN" sz="1900" dirty="0"/>
              <a:t>Pretrained classifiers (e.g., hate speech, toxicity, PII detection)</a:t>
            </a:r>
          </a:p>
          <a:p>
            <a:r>
              <a:rPr lang="en-IN" sz="1900" dirty="0"/>
              <a:t>Custom rule engine</a:t>
            </a:r>
          </a:p>
          <a:p>
            <a:r>
              <a:rPr lang="en-IN" sz="1900" b="1" dirty="0"/>
              <a:t>Database:</a:t>
            </a:r>
            <a:endParaRPr lang="en-IN" sz="1900" dirty="0"/>
          </a:p>
          <a:p>
            <a:r>
              <a:rPr lang="en-IN" sz="1900" dirty="0"/>
              <a:t>PostgreSQL / MongoDB (for logging and analytics)</a:t>
            </a:r>
          </a:p>
          <a:p>
            <a:r>
              <a:rPr lang="en-IN" sz="1900" b="1" dirty="0"/>
              <a:t>Deployment:</a:t>
            </a:r>
            <a:endParaRPr lang="en-IN" sz="1900" dirty="0"/>
          </a:p>
          <a:p>
            <a:r>
              <a:rPr lang="en-IN" sz="1900" dirty="0"/>
              <a:t>Docker / Kubernetes</a:t>
            </a:r>
          </a:p>
          <a:p>
            <a:r>
              <a:rPr lang="en-IN" sz="1900" dirty="0"/>
              <a:t>Cloud (AWS, GCP, Azure) or on-prem</a:t>
            </a:r>
          </a:p>
          <a:p>
            <a:endParaRPr lang="en-IN" sz="1400" b="1" dirty="0"/>
          </a:p>
          <a:p>
            <a:endParaRPr lang="en-IN" sz="1400" dirty="0"/>
          </a:p>
          <a:p>
            <a:pPr marL="0" indent="0">
              <a:buNone/>
            </a:pPr>
            <a:endParaRPr lang="en-IN" sz="1400" b="1" u="sng" dirty="0"/>
          </a:p>
        </p:txBody>
      </p:sp>
      <p:sp>
        <p:nvSpPr>
          <p:cNvPr id="4" name="Slide Number Placeholder 3">
            <a:extLst>
              <a:ext uri="{FF2B5EF4-FFF2-40B4-BE49-F238E27FC236}">
                <a16:creationId xmlns:a16="http://schemas.microsoft.com/office/drawing/2014/main" id="{6C939B3B-A0DA-C629-377C-92A37574687C}"/>
              </a:ext>
            </a:extLst>
          </p:cNvPr>
          <p:cNvSpPr>
            <a:spLocks noGrp="1"/>
          </p:cNvSpPr>
          <p:nvPr>
            <p:ph type="sldNum" sz="quarter" idx="4"/>
          </p:nvPr>
        </p:nvSpPr>
        <p:spPr/>
        <p:txBody>
          <a:bodyPr/>
          <a:lstStyle/>
          <a:p>
            <a:fld id="{94599A10-5031-416A-8935-40C3BCBA0AF7}" type="slidenum">
              <a:rPr lang="en-US" smtClean="0"/>
              <a:pPr/>
              <a:t>8</a:t>
            </a:fld>
            <a:endParaRPr lang="en-US" dirty="0"/>
          </a:p>
        </p:txBody>
      </p:sp>
    </p:spTree>
    <p:extLst>
      <p:ext uri="{BB962C8B-B14F-4D97-AF65-F5344CB8AC3E}">
        <p14:creationId xmlns:p14="http://schemas.microsoft.com/office/powerpoint/2010/main" val="3748991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96695-6B6B-3281-F7C4-33774C6FFFD0}"/>
              </a:ext>
            </a:extLst>
          </p:cNvPr>
          <p:cNvSpPr>
            <a:spLocks noGrp="1"/>
          </p:cNvSpPr>
          <p:nvPr>
            <p:ph type="title"/>
          </p:nvPr>
        </p:nvSpPr>
        <p:spPr/>
        <p:txBody>
          <a:bodyPr>
            <a:normAutofit/>
          </a:bodyPr>
          <a:lstStyle/>
          <a:p>
            <a:r>
              <a:rPr lang="en-IN" sz="3600" dirty="0"/>
              <a:t>Functional and Non-functional Requirements</a:t>
            </a:r>
          </a:p>
        </p:txBody>
      </p:sp>
      <p:sp>
        <p:nvSpPr>
          <p:cNvPr id="3" name="Content Placeholder 2">
            <a:extLst>
              <a:ext uri="{FF2B5EF4-FFF2-40B4-BE49-F238E27FC236}">
                <a16:creationId xmlns:a16="http://schemas.microsoft.com/office/drawing/2014/main" id="{18374055-9A27-5384-C4C4-0364608E82F5}"/>
              </a:ext>
            </a:extLst>
          </p:cNvPr>
          <p:cNvSpPr>
            <a:spLocks noGrp="1"/>
          </p:cNvSpPr>
          <p:nvPr>
            <p:ph idx="1"/>
          </p:nvPr>
        </p:nvSpPr>
        <p:spPr>
          <a:xfrm>
            <a:off x="838200" y="1690688"/>
            <a:ext cx="10515600" cy="4351338"/>
          </a:xfrm>
        </p:spPr>
        <p:txBody>
          <a:bodyPr>
            <a:normAutofit/>
          </a:bodyPr>
          <a:lstStyle/>
          <a:p>
            <a:r>
              <a:rPr lang="en-US" sz="2400" b="1" dirty="0"/>
              <a:t>Functional Requirements</a:t>
            </a:r>
          </a:p>
          <a:p>
            <a:r>
              <a:rPr lang="en-US" sz="2400" dirty="0"/>
              <a:t>Intercept all user input and LLM output</a:t>
            </a:r>
          </a:p>
          <a:p>
            <a:r>
              <a:rPr lang="en-US" sz="2400" dirty="0"/>
              <a:t>Classify content into four categories: Accept, Warning, Alter, Reject</a:t>
            </a:r>
          </a:p>
          <a:p>
            <a:r>
              <a:rPr lang="en-US" sz="2400" dirty="0"/>
              <a:t>Modify or sanitize content when necessary</a:t>
            </a:r>
          </a:p>
          <a:p>
            <a:r>
              <a:rPr lang="en-US" sz="2400" dirty="0"/>
              <a:t>Provide warnings or feedback to users</a:t>
            </a:r>
          </a:p>
          <a:p>
            <a:r>
              <a:rPr lang="en-US" sz="2400" dirty="0"/>
              <a:t>Log all actions with timestamp and user metadata</a:t>
            </a:r>
          </a:p>
          <a:p>
            <a:r>
              <a:rPr lang="en-US" sz="2400" dirty="0"/>
              <a:t>Enforce configurable policy rules (e.g., GDPR-compliance)</a:t>
            </a:r>
          </a:p>
          <a:p>
            <a:r>
              <a:rPr lang="en-US" sz="2400" dirty="0"/>
              <a:t>Allow admin review and overrides</a:t>
            </a:r>
          </a:p>
          <a:p>
            <a:pPr marL="0" indent="0">
              <a:buNone/>
            </a:pPr>
            <a:endParaRPr lang="en-IN" sz="2500" b="1" u="sng" dirty="0"/>
          </a:p>
        </p:txBody>
      </p:sp>
      <p:sp>
        <p:nvSpPr>
          <p:cNvPr id="4" name="Slide Number Placeholder 3">
            <a:extLst>
              <a:ext uri="{FF2B5EF4-FFF2-40B4-BE49-F238E27FC236}">
                <a16:creationId xmlns:a16="http://schemas.microsoft.com/office/drawing/2014/main" id="{9A0BE41B-9C8B-7EA7-614B-C17F929423EF}"/>
              </a:ext>
            </a:extLst>
          </p:cNvPr>
          <p:cNvSpPr>
            <a:spLocks noGrp="1"/>
          </p:cNvSpPr>
          <p:nvPr>
            <p:ph type="sldNum" sz="quarter" idx="4"/>
          </p:nvPr>
        </p:nvSpPr>
        <p:spPr/>
        <p:txBody>
          <a:bodyPr/>
          <a:lstStyle/>
          <a:p>
            <a:fld id="{94599A10-5031-416A-8935-40C3BCBA0AF7}" type="slidenum">
              <a:rPr lang="en-US" smtClean="0"/>
              <a:pPr/>
              <a:t>9</a:t>
            </a:fld>
            <a:endParaRPr lang="en-US" dirty="0"/>
          </a:p>
        </p:txBody>
      </p:sp>
      <p:cxnSp>
        <p:nvCxnSpPr>
          <p:cNvPr id="5" name="Straight Connector 4">
            <a:extLst>
              <a:ext uri="{FF2B5EF4-FFF2-40B4-BE49-F238E27FC236}">
                <a16:creationId xmlns:a16="http://schemas.microsoft.com/office/drawing/2014/main" id="{255F6518-7162-41E7-C7BD-C7D45A96BB0C}"/>
              </a:ext>
            </a:extLst>
          </p:cNvPr>
          <p:cNvCxnSpPr>
            <a:cxnSpLocks/>
          </p:cNvCxnSpPr>
          <p:nvPr/>
        </p:nvCxnSpPr>
        <p:spPr>
          <a:xfrm>
            <a:off x="838200" y="1380945"/>
            <a:ext cx="5429865"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A4E4C71-D694-27BD-2E02-5917EB9998B8}"/>
              </a:ext>
            </a:extLst>
          </p:cNvPr>
          <p:cNvCxnSpPr>
            <a:cxnSpLocks/>
          </p:cNvCxnSpPr>
          <p:nvPr/>
        </p:nvCxnSpPr>
        <p:spPr>
          <a:xfrm>
            <a:off x="6268065" y="1380945"/>
            <a:ext cx="3775587"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45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F292A8-886D-22E4-7822-2C45D12E91F8}"/>
              </a:ext>
            </a:extLst>
          </p:cNvPr>
          <p:cNvSpPr>
            <a:spLocks noGrp="1"/>
          </p:cNvSpPr>
          <p:nvPr>
            <p:ph idx="1"/>
          </p:nvPr>
        </p:nvSpPr>
        <p:spPr>
          <a:xfrm>
            <a:off x="838200" y="1431925"/>
            <a:ext cx="10515600" cy="4351338"/>
          </a:xfrm>
        </p:spPr>
        <p:txBody>
          <a:bodyPr>
            <a:normAutofit/>
          </a:bodyPr>
          <a:lstStyle/>
          <a:p>
            <a:r>
              <a:rPr lang="en-US" sz="2400" b="1" dirty="0"/>
              <a:t>Non-Functional Requirements</a:t>
            </a:r>
          </a:p>
          <a:p>
            <a:r>
              <a:rPr lang="en-US" sz="2400" b="1" dirty="0"/>
              <a:t>Performance</a:t>
            </a:r>
            <a:r>
              <a:rPr lang="en-US" sz="2400" dirty="0"/>
              <a:t>: Real-time filtering with low latency (&lt;500ms)</a:t>
            </a:r>
          </a:p>
          <a:p>
            <a:r>
              <a:rPr lang="en-US" sz="2400" b="1" dirty="0"/>
              <a:t>Scalability</a:t>
            </a:r>
            <a:r>
              <a:rPr lang="en-US" sz="2400" dirty="0"/>
              <a:t>: Should support thousands of concurrent users</a:t>
            </a:r>
          </a:p>
          <a:p>
            <a:r>
              <a:rPr lang="en-US" sz="2400" b="1" dirty="0"/>
              <a:t>Reliability</a:t>
            </a:r>
            <a:r>
              <a:rPr lang="en-US" sz="2400" dirty="0"/>
              <a:t>: 99.9% uptime</a:t>
            </a:r>
          </a:p>
          <a:p>
            <a:r>
              <a:rPr lang="en-US" sz="2400" b="1" dirty="0"/>
              <a:t>Security</a:t>
            </a:r>
            <a:r>
              <a:rPr lang="en-US" sz="2400" dirty="0"/>
              <a:t>: End-to-end encryption, secure APIs</a:t>
            </a:r>
          </a:p>
          <a:p>
            <a:r>
              <a:rPr lang="en-US" sz="2400" b="1" dirty="0"/>
              <a:t>Auditability</a:t>
            </a:r>
            <a:r>
              <a:rPr lang="en-US" sz="2400" dirty="0"/>
              <a:t>: Action logs with metadata for compliance</a:t>
            </a:r>
          </a:p>
          <a:p>
            <a:r>
              <a:rPr lang="en-US" sz="2400" b="1" dirty="0"/>
              <a:t>Adaptability</a:t>
            </a:r>
            <a:r>
              <a:rPr lang="en-US" sz="2400" dirty="0"/>
              <a:t>: Support for updated models and policies</a:t>
            </a:r>
          </a:p>
          <a:p>
            <a:r>
              <a:rPr lang="en-US" sz="2400" b="1" dirty="0"/>
              <a:t>Usability</a:t>
            </a:r>
            <a:r>
              <a:rPr lang="en-US" sz="2400" dirty="0"/>
              <a:t>: Transparent to users unless intervention is required</a:t>
            </a:r>
          </a:p>
          <a:p>
            <a:pPr marL="0" indent="0">
              <a:buNone/>
            </a:pPr>
            <a:endParaRPr lang="en-IN" sz="2500" b="1" u="sng" dirty="0"/>
          </a:p>
        </p:txBody>
      </p:sp>
      <p:sp>
        <p:nvSpPr>
          <p:cNvPr id="4" name="Slide Number Placeholder 3">
            <a:extLst>
              <a:ext uri="{FF2B5EF4-FFF2-40B4-BE49-F238E27FC236}">
                <a16:creationId xmlns:a16="http://schemas.microsoft.com/office/drawing/2014/main" id="{163AF4E7-BA92-1558-78F2-1D7A2FFA7A66}"/>
              </a:ext>
            </a:extLst>
          </p:cNvPr>
          <p:cNvSpPr>
            <a:spLocks noGrp="1"/>
          </p:cNvSpPr>
          <p:nvPr>
            <p:ph type="sldNum" sz="quarter" idx="4"/>
          </p:nvPr>
        </p:nvSpPr>
        <p:spPr/>
        <p:txBody>
          <a:bodyPr/>
          <a:lstStyle/>
          <a:p>
            <a:fld id="{94599A10-5031-416A-8935-40C3BCBA0AF7}" type="slidenum">
              <a:rPr lang="en-US" smtClean="0"/>
              <a:pPr/>
              <a:t>10</a:t>
            </a:fld>
            <a:endParaRPr lang="en-US" dirty="0"/>
          </a:p>
        </p:txBody>
      </p:sp>
    </p:spTree>
    <p:extLst>
      <p:ext uri="{BB962C8B-B14F-4D97-AF65-F5344CB8AC3E}">
        <p14:creationId xmlns:p14="http://schemas.microsoft.com/office/powerpoint/2010/main" val="667720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1E55B-A894-9934-6F2A-2DEF87B4566C}"/>
              </a:ext>
            </a:extLst>
          </p:cNvPr>
          <p:cNvSpPr>
            <a:spLocks noGrp="1"/>
          </p:cNvSpPr>
          <p:nvPr>
            <p:ph type="title"/>
          </p:nvPr>
        </p:nvSpPr>
        <p:spPr>
          <a:xfrm>
            <a:off x="838200" y="222093"/>
            <a:ext cx="10515600" cy="1325563"/>
          </a:xfrm>
        </p:spPr>
        <p:txBody>
          <a:bodyPr>
            <a:normAutofit/>
          </a:bodyPr>
          <a:lstStyle/>
          <a:p>
            <a:r>
              <a:rPr lang="en-IN" sz="3600" dirty="0"/>
              <a:t>Applications</a:t>
            </a:r>
          </a:p>
        </p:txBody>
      </p:sp>
      <p:sp>
        <p:nvSpPr>
          <p:cNvPr id="3" name="Content Placeholder 2">
            <a:extLst>
              <a:ext uri="{FF2B5EF4-FFF2-40B4-BE49-F238E27FC236}">
                <a16:creationId xmlns:a16="http://schemas.microsoft.com/office/drawing/2014/main" id="{3EE0DD1E-CA23-20B0-BCC4-DC755C93BFDA}"/>
              </a:ext>
            </a:extLst>
          </p:cNvPr>
          <p:cNvSpPr>
            <a:spLocks noGrp="1"/>
          </p:cNvSpPr>
          <p:nvPr>
            <p:ph idx="1"/>
          </p:nvPr>
        </p:nvSpPr>
        <p:spPr>
          <a:xfrm>
            <a:off x="618379" y="1621787"/>
            <a:ext cx="10515600" cy="4351338"/>
          </a:xfrm>
        </p:spPr>
        <p:txBody>
          <a:bodyPr>
            <a:normAutofit/>
          </a:bodyPr>
          <a:lstStyle/>
          <a:p>
            <a:r>
              <a:rPr lang="en-IN" sz="2400" b="1" dirty="0"/>
              <a:t>Customer support bots</a:t>
            </a:r>
            <a:r>
              <a:rPr lang="en-IN" sz="2400" dirty="0"/>
              <a:t>: Prevent AI from giving wrong or offensive responses</a:t>
            </a:r>
          </a:p>
          <a:p>
            <a:r>
              <a:rPr lang="en-IN" sz="2400" b="1" dirty="0"/>
              <a:t>Healthcare AI</a:t>
            </a:r>
            <a:r>
              <a:rPr lang="en-IN" sz="2400" dirty="0"/>
              <a:t>: Ensure HIPAA-compliant data interactions</a:t>
            </a:r>
          </a:p>
          <a:p>
            <a:r>
              <a:rPr lang="en-IN" sz="2400" b="1" dirty="0"/>
              <a:t>Educational platforms</a:t>
            </a:r>
            <a:r>
              <a:rPr lang="en-IN" sz="2400" dirty="0"/>
              <a:t>: Filter age-inappropriate content</a:t>
            </a:r>
          </a:p>
          <a:p>
            <a:r>
              <a:rPr lang="en-IN" sz="2400" b="1" dirty="0"/>
              <a:t>Financial services</a:t>
            </a:r>
            <a:r>
              <a:rPr lang="en-IN" sz="2400" dirty="0"/>
              <a:t>: Prevent leakage of sensitive financial data</a:t>
            </a:r>
          </a:p>
          <a:p>
            <a:r>
              <a:rPr lang="en-IN" sz="2400" b="1" dirty="0"/>
              <a:t>Public AI APIs</a:t>
            </a:r>
            <a:r>
              <a:rPr lang="en-IN" sz="2400" dirty="0"/>
              <a:t>: Enforce usage policies and reduce legal risks</a:t>
            </a:r>
          </a:p>
          <a:p>
            <a:endParaRPr lang="en-IN" sz="2500" u="sng" dirty="0"/>
          </a:p>
        </p:txBody>
      </p:sp>
      <p:sp>
        <p:nvSpPr>
          <p:cNvPr id="4" name="Slide Number Placeholder 3">
            <a:extLst>
              <a:ext uri="{FF2B5EF4-FFF2-40B4-BE49-F238E27FC236}">
                <a16:creationId xmlns:a16="http://schemas.microsoft.com/office/drawing/2014/main" id="{3C3F6946-510F-0F5A-C84E-16570655025C}"/>
              </a:ext>
            </a:extLst>
          </p:cNvPr>
          <p:cNvSpPr>
            <a:spLocks noGrp="1"/>
          </p:cNvSpPr>
          <p:nvPr>
            <p:ph type="sldNum" sz="quarter" idx="4"/>
          </p:nvPr>
        </p:nvSpPr>
        <p:spPr/>
        <p:txBody>
          <a:bodyPr/>
          <a:lstStyle/>
          <a:p>
            <a:fld id="{94599A10-5031-416A-8935-40C3BCBA0AF7}" type="slidenum">
              <a:rPr lang="en-US" smtClean="0"/>
              <a:pPr/>
              <a:t>11</a:t>
            </a:fld>
            <a:endParaRPr lang="en-US" dirty="0"/>
          </a:p>
        </p:txBody>
      </p:sp>
      <p:cxnSp>
        <p:nvCxnSpPr>
          <p:cNvPr id="5" name="Straight Connector 4">
            <a:extLst>
              <a:ext uri="{FF2B5EF4-FFF2-40B4-BE49-F238E27FC236}">
                <a16:creationId xmlns:a16="http://schemas.microsoft.com/office/drawing/2014/main" id="{EF34D87C-027B-7A87-D346-5AB0A102D413}"/>
              </a:ext>
            </a:extLst>
          </p:cNvPr>
          <p:cNvCxnSpPr>
            <a:cxnSpLocks/>
          </p:cNvCxnSpPr>
          <p:nvPr/>
        </p:nvCxnSpPr>
        <p:spPr>
          <a:xfrm>
            <a:off x="618379" y="127146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9B1CD6B-41D5-8DE7-10A8-B433357571D4}"/>
              </a:ext>
            </a:extLst>
          </p:cNvPr>
          <p:cNvCxnSpPr>
            <a:cxnSpLocks/>
          </p:cNvCxnSpPr>
          <p:nvPr/>
        </p:nvCxnSpPr>
        <p:spPr>
          <a:xfrm>
            <a:off x="3985761" y="127146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394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946CE-05F7-1D4F-2915-7CC232689F72}"/>
              </a:ext>
            </a:extLst>
          </p:cNvPr>
          <p:cNvSpPr>
            <a:spLocks noGrp="1"/>
          </p:cNvSpPr>
          <p:nvPr>
            <p:ph type="title"/>
          </p:nvPr>
        </p:nvSpPr>
        <p:spPr/>
        <p:txBody>
          <a:bodyPr/>
          <a:lstStyle/>
          <a:p>
            <a:r>
              <a:rPr lang="en-IN" sz="3600" dirty="0"/>
              <a:t>Future Scopes</a:t>
            </a:r>
            <a:br>
              <a:rPr lang="en-IN" dirty="0"/>
            </a:br>
            <a:endParaRPr lang="en-IN" dirty="0"/>
          </a:p>
        </p:txBody>
      </p:sp>
      <p:sp>
        <p:nvSpPr>
          <p:cNvPr id="4" name="Slide Number Placeholder 3">
            <a:extLst>
              <a:ext uri="{FF2B5EF4-FFF2-40B4-BE49-F238E27FC236}">
                <a16:creationId xmlns:a16="http://schemas.microsoft.com/office/drawing/2014/main" id="{C783536C-BEAA-ADDC-8791-F127F5E9B626}"/>
              </a:ext>
            </a:extLst>
          </p:cNvPr>
          <p:cNvSpPr>
            <a:spLocks noGrp="1"/>
          </p:cNvSpPr>
          <p:nvPr>
            <p:ph type="sldNum" sz="quarter" idx="4"/>
          </p:nvPr>
        </p:nvSpPr>
        <p:spPr/>
        <p:txBody>
          <a:bodyPr/>
          <a:lstStyle/>
          <a:p>
            <a:fld id="{94599A10-5031-416A-8935-40C3BCBA0AF7}" type="slidenum">
              <a:rPr lang="en-US" smtClean="0"/>
              <a:pPr/>
              <a:t>12</a:t>
            </a:fld>
            <a:endParaRPr lang="en-US" dirty="0"/>
          </a:p>
        </p:txBody>
      </p:sp>
      <p:cxnSp>
        <p:nvCxnSpPr>
          <p:cNvPr id="6" name="Straight Connector 5">
            <a:extLst>
              <a:ext uri="{FF2B5EF4-FFF2-40B4-BE49-F238E27FC236}">
                <a16:creationId xmlns:a16="http://schemas.microsoft.com/office/drawing/2014/main" id="{D220AD40-D842-E679-E6E0-88A1D6FB613E}"/>
              </a:ext>
            </a:extLst>
          </p:cNvPr>
          <p:cNvCxnSpPr>
            <a:cxnSpLocks/>
          </p:cNvCxnSpPr>
          <p:nvPr/>
        </p:nvCxnSpPr>
        <p:spPr>
          <a:xfrm>
            <a:off x="723900" y="1174390"/>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0C2F0CA-4ED5-4741-FCBB-9B58B094D997}"/>
              </a:ext>
            </a:extLst>
          </p:cNvPr>
          <p:cNvCxnSpPr>
            <a:cxnSpLocks/>
          </p:cNvCxnSpPr>
          <p:nvPr/>
        </p:nvCxnSpPr>
        <p:spPr>
          <a:xfrm>
            <a:off x="4221911" y="1174390"/>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72C4A284-FFFF-2E3A-7B4D-DE9B063630A0}"/>
              </a:ext>
            </a:extLst>
          </p:cNvPr>
          <p:cNvSpPr>
            <a:spLocks noGrp="1" noChangeArrowheads="1"/>
          </p:cNvSpPr>
          <p:nvPr>
            <p:ph idx="1"/>
          </p:nvPr>
        </p:nvSpPr>
        <p:spPr bwMode="auto">
          <a:xfrm>
            <a:off x="838200" y="1690688"/>
            <a:ext cx="966651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Adaptive Learning</a:t>
            </a:r>
            <a:r>
              <a:rPr kumimoji="0" lang="en-US" altLang="en-US" sz="2000" b="0" i="0" u="none" strike="noStrike" cap="none" normalizeH="0" baseline="0" dirty="0">
                <a:ln>
                  <a:noFill/>
                </a:ln>
                <a:solidFill>
                  <a:schemeClr val="tx1"/>
                </a:solidFill>
                <a:effectLst/>
                <a:latin typeface="Arial" panose="020B0604020202020204" pitchFamily="34" charset="0"/>
              </a:rPr>
              <a:t>: Use Reinforcement Learning from Human Feedback (RLHF) to refine filters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Multilingual Support</a:t>
            </a:r>
            <a:r>
              <a:rPr kumimoji="0" lang="en-US" altLang="en-US" sz="2000" b="0" i="0" u="none" strike="noStrike" cap="none" normalizeH="0" baseline="0" dirty="0">
                <a:ln>
                  <a:noFill/>
                </a:ln>
                <a:solidFill>
                  <a:schemeClr val="tx1"/>
                </a:solidFill>
                <a:effectLst/>
                <a:latin typeface="Arial" panose="020B0604020202020204" pitchFamily="34" charset="0"/>
              </a:rPr>
              <a:t>: Expand moderation to non-English languages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Dynamic Policy Updates</a:t>
            </a:r>
            <a:r>
              <a:rPr kumimoji="0" lang="en-US" altLang="en-US" sz="2000" b="0" i="0" u="none" strike="noStrike" cap="none" normalizeH="0" baseline="0" dirty="0">
                <a:ln>
                  <a:noFill/>
                </a:ln>
                <a:solidFill>
                  <a:schemeClr val="tx1"/>
                </a:solidFill>
                <a:effectLst/>
                <a:latin typeface="Arial" panose="020B0604020202020204" pitchFamily="34" charset="0"/>
              </a:rPr>
              <a:t>: Real-time policy changes based on emerging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Explainable AI</a:t>
            </a:r>
            <a:r>
              <a:rPr kumimoji="0" lang="en-US" altLang="en-US" sz="2000" b="0" i="0" u="none" strike="noStrike" cap="none" normalizeH="0" baseline="0" dirty="0">
                <a:ln>
                  <a:noFill/>
                </a:ln>
                <a:solidFill>
                  <a:schemeClr val="tx1"/>
                </a:solidFill>
                <a:effectLst/>
                <a:latin typeface="Arial" panose="020B0604020202020204" pitchFamily="34" charset="0"/>
              </a:rPr>
              <a:t>: Explain why certain actions (e.g., Alter/Reject) were taken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User Customization</a:t>
            </a:r>
            <a:r>
              <a:rPr kumimoji="0" lang="en-US" altLang="en-US" sz="2000" b="0" i="0" u="none" strike="noStrike" cap="none" normalizeH="0" baseline="0" dirty="0">
                <a:ln>
                  <a:noFill/>
                </a:ln>
                <a:solidFill>
                  <a:schemeClr val="tx1"/>
                </a:solidFill>
                <a:effectLst/>
                <a:latin typeface="Arial" panose="020B0604020202020204" pitchFamily="34" charset="0"/>
              </a:rPr>
              <a:t>: Allow users or orgs to define their own moderation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Integration SDK</a:t>
            </a:r>
            <a:r>
              <a:rPr kumimoji="0" lang="en-US" altLang="en-US" sz="2000" b="0" i="0" u="none" strike="noStrike" cap="none" normalizeH="0" baseline="0" dirty="0">
                <a:ln>
                  <a:noFill/>
                </a:ln>
                <a:solidFill>
                  <a:schemeClr val="tx1"/>
                </a:solidFill>
                <a:effectLst/>
                <a:latin typeface="Arial" panose="020B0604020202020204" pitchFamily="34" charset="0"/>
              </a:rPr>
              <a:t>: Provide ByeJect as a plug-and-play middleware SDK for developers</a:t>
            </a:r>
          </a:p>
        </p:txBody>
      </p:sp>
    </p:spTree>
    <p:extLst>
      <p:ext uri="{BB962C8B-B14F-4D97-AF65-F5344CB8AC3E}">
        <p14:creationId xmlns:p14="http://schemas.microsoft.com/office/powerpoint/2010/main" val="956808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2700-31C1-F6E4-4BF3-668D250F42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65987F-1D74-4646-DC9C-9088DD888B8C}"/>
              </a:ext>
            </a:extLst>
          </p:cNvPr>
          <p:cNvSpPr>
            <a:spLocks noGrp="1"/>
          </p:cNvSpPr>
          <p:nvPr>
            <p:ph type="sldNum" sz="quarter" idx="4"/>
          </p:nvPr>
        </p:nvSpPr>
        <p:spPr/>
        <p:txBody>
          <a:bodyPr/>
          <a:lstStyle/>
          <a:p>
            <a:fld id="{94599A10-5031-416A-8935-40C3BCBA0AF7}" type="slidenum">
              <a:rPr lang="en-US" smtClean="0"/>
              <a:pPr/>
              <a:t>13</a:t>
            </a:fld>
            <a:endParaRPr lang="en-US" dirty="0"/>
          </a:p>
        </p:txBody>
      </p:sp>
      <p:sp>
        <p:nvSpPr>
          <p:cNvPr id="8" name="Title 1">
            <a:extLst>
              <a:ext uri="{FF2B5EF4-FFF2-40B4-BE49-F238E27FC236}">
                <a16:creationId xmlns:a16="http://schemas.microsoft.com/office/drawing/2014/main" id="{905C7683-34CE-BE62-BCAF-70C3F16F0E1A}"/>
              </a:ext>
            </a:extLst>
          </p:cNvPr>
          <p:cNvSpPr>
            <a:spLocks noGrp="1"/>
          </p:cNvSpPr>
          <p:nvPr>
            <p:ph type="title"/>
          </p:nvPr>
        </p:nvSpPr>
        <p:spPr>
          <a:xfrm>
            <a:off x="3712029" y="2329544"/>
            <a:ext cx="5144233" cy="1431798"/>
          </a:xfrm>
        </p:spPr>
        <p:txBody>
          <a:bodyPr>
            <a:noAutofit/>
          </a:bodyPr>
          <a:lstStyle/>
          <a:p>
            <a:pPr rtl="0">
              <a:spcBef>
                <a:spcPts val="0"/>
              </a:spcBef>
              <a:spcAft>
                <a:spcPts val="0"/>
              </a:spcAft>
            </a:pPr>
            <a:r>
              <a:rPr lang="en-US" sz="6600" i="0" u="none" strike="noStrike" dirty="0">
                <a:solidFill>
                  <a:srgbClr val="A32837"/>
                </a:solidFill>
                <a:effectLst/>
              </a:rPr>
              <a:t>Thank You!</a:t>
            </a:r>
            <a:endParaRPr lang="en-US" sz="6600" dirty="0"/>
          </a:p>
        </p:txBody>
      </p:sp>
      <p:cxnSp>
        <p:nvCxnSpPr>
          <p:cNvPr id="9" name="Straight Connector 8">
            <a:extLst>
              <a:ext uri="{FF2B5EF4-FFF2-40B4-BE49-F238E27FC236}">
                <a16:creationId xmlns:a16="http://schemas.microsoft.com/office/drawing/2014/main" id="{21F718C2-37F5-1210-38ED-D70A376E8BE5}"/>
              </a:ext>
            </a:extLst>
          </p:cNvPr>
          <p:cNvCxnSpPr>
            <a:cxnSpLocks/>
          </p:cNvCxnSpPr>
          <p:nvPr/>
        </p:nvCxnSpPr>
        <p:spPr>
          <a:xfrm>
            <a:off x="2597989" y="39336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13CB39-7A1C-41DE-AC01-301A5E16497D}"/>
              </a:ext>
            </a:extLst>
          </p:cNvPr>
          <p:cNvCxnSpPr>
            <a:cxnSpLocks/>
          </p:cNvCxnSpPr>
          <p:nvPr/>
        </p:nvCxnSpPr>
        <p:spPr>
          <a:xfrm>
            <a:off x="6096000" y="39336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924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03917"/>
      </p:ext>
    </p:extLst>
  </p:cSld>
  <p:clrMapOvr>
    <a:masterClrMapping/>
  </p:clrMapOvr>
</p:sld>
</file>

<file path=ppt/theme/theme1.xml><?xml version="1.0" encoding="utf-8"?>
<a:theme xmlns:a="http://schemas.openxmlformats.org/drawingml/2006/main" name="Office Theme">
  <a:themeElements>
    <a:clrScheme name="Custom 5">
      <a:dk1>
        <a:srgbClr val="000000"/>
      </a:dk1>
      <a:lt1>
        <a:sysClr val="window" lastClr="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Medicaps">
      <a:majorFont>
        <a:latin typeface="Metropolis Semi Bold"/>
        <a:ea typeface=""/>
        <a:cs typeface=""/>
      </a:majorFont>
      <a:minorFont>
        <a:latin typeface="Metropoli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617A8B78-F622-4C57-A45F-FE0E80141807}" vid="{1E4079A0-7BD4-493D-B6C3-8779881B8C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(1)</Template>
  <TotalTime>428</TotalTime>
  <Words>892</Words>
  <Application>Microsoft Office PowerPoint</Application>
  <PresentationFormat>Widescreen</PresentationFormat>
  <Paragraphs>134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Metropolis</vt:lpstr>
      <vt:lpstr>Metropolis Semi Bold</vt:lpstr>
      <vt:lpstr>Zilla Slab</vt:lpstr>
      <vt:lpstr>Office Theme</vt:lpstr>
      <vt:lpstr>ByeJect</vt:lpstr>
      <vt:lpstr>Introduction</vt:lpstr>
      <vt:lpstr>Problem Statement</vt:lpstr>
      <vt:lpstr>Solution Domain</vt:lpstr>
      <vt:lpstr>Methodology</vt:lpstr>
      <vt:lpstr>PowerPoint Presentation</vt:lpstr>
      <vt:lpstr>Hardware and Software Requirements</vt:lpstr>
      <vt:lpstr>PowerPoint Presentation</vt:lpstr>
      <vt:lpstr>Functional and Non-functional Requirements</vt:lpstr>
      <vt:lpstr>PowerPoint Presentation</vt:lpstr>
      <vt:lpstr>Applications</vt:lpstr>
      <vt:lpstr>Future Scopes </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Rishika Jain</dc:creator>
  <cp:lastModifiedBy>samiksha pandey</cp:lastModifiedBy>
  <cp:revision>2</cp:revision>
  <dcterms:created xsi:type="dcterms:W3CDTF">2025-09-16T13:09:21Z</dcterms:created>
  <dcterms:modified xsi:type="dcterms:W3CDTF">2025-09-23T20:14:04Z</dcterms:modified>
</cp:coreProperties>
</file>